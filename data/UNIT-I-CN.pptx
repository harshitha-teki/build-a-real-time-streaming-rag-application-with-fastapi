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palakonda9676@outlook.com" userId="dfb72d177e69026f" providerId="LiveId" clId="{8FFF84F3-9375-44AD-8F0E-7BE891472C67}"/>
    <pc:docChg chg="modSld">
      <pc:chgData name="appalakonda9676@outlook.com" userId="dfb72d177e69026f" providerId="LiveId" clId="{8FFF84F3-9375-44AD-8F0E-7BE891472C67}" dt="2025-07-08T04:37:12.504" v="0" actId="14100"/>
      <pc:docMkLst>
        <pc:docMk/>
      </pc:docMkLst>
      <pc:sldChg chg="modSp mod">
        <pc:chgData name="appalakonda9676@outlook.com" userId="dfb72d177e69026f" providerId="LiveId" clId="{8FFF84F3-9375-44AD-8F0E-7BE891472C67}" dt="2025-07-08T04:37:12.504" v="0" actId="14100"/>
        <pc:sldMkLst>
          <pc:docMk/>
          <pc:sldMk cId="0" sldId="279"/>
        </pc:sldMkLst>
        <pc:picChg chg="mod">
          <ac:chgData name="appalakonda9676@outlook.com" userId="dfb72d177e69026f" providerId="LiveId" clId="{8FFF84F3-9375-44AD-8F0E-7BE891472C67}" dt="2025-07-08T04:37:12.504" v="0" actId="14100"/>
          <ac:picMkLst>
            <pc:docMk/>
            <pc:sldMk cId="0" sldId="279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35757-9A41-45A9-96DD-651854737327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E8A7E-5C15-4E5B-B807-9292C6CE76F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network-layer/what-is-a-wan/" TargetMode="External"/><Relationship Id="rId2" Type="http://schemas.openxmlformats.org/officeDocument/2006/relationships/hyperlink" Target="https://www.cloudflare.com/learning/network-layer/what-is-a-lan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what-is-computer" TargetMode="External"/><Relationship Id="rId2" Type="http://schemas.openxmlformats.org/officeDocument/2006/relationships/hyperlink" Target="https://www.javatpoint.com/software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computer-network-topologies" TargetMode="External"/><Relationship Id="rId2" Type="http://schemas.openxmlformats.org/officeDocument/2006/relationships/hyperlink" Target="https://www.javatpoint.com/computer-network-transmission-mode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of-mac-address-in-computer-network" TargetMode="External"/><Relationship Id="rId2" Type="http://schemas.openxmlformats.org/officeDocument/2006/relationships/hyperlink" Target="https://www.geeksforgeeks.org/mac-address-in-computer-network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how-address-resolution-protocol-arp-works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ifference-between-ascii-and-ebcdic" TargetMode="Externa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uter-networks/file-transfer-protocol-ftp-in-application-layer/" TargetMode="External"/><Relationship Id="rId2" Type="http://schemas.openxmlformats.org/officeDocument/2006/relationships/hyperlink" Target="https://www.geeksforgeeks.org/computer-networks/simple-mail-transfer-protocol-smtp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gi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8605"/>
            <a:ext cx="7772400" cy="1071569"/>
          </a:xfrm>
        </p:spPr>
        <p:txBody>
          <a:bodyPr>
            <a:normAutofit fontScale="90000"/>
          </a:bodyPr>
          <a:lstStyle/>
          <a:p>
            <a:pPr lvl="0"/>
            <a:r>
              <a:rPr lang="en-US" b="1" u="sng" dirty="0">
                <a:solidFill>
                  <a:srgbClr val="C00000"/>
                </a:solidFill>
              </a:rPr>
              <a:t>Computer Network: Definition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348" y="1643050"/>
            <a:ext cx="4000528" cy="5072098"/>
          </a:xfrm>
        </p:spPr>
        <p:txBody>
          <a:bodyPr>
            <a:normAutofit fontScale="77500" lnSpcReduction="20000"/>
          </a:bodyPr>
          <a:lstStyle/>
          <a:p>
            <a:pPr algn="l"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rgbClr val="00B050"/>
                </a:solidFill>
              </a:rPr>
              <a:t> </a:t>
            </a:r>
            <a:r>
              <a:rPr lang="en-US" b="1" dirty="0">
                <a:solidFill>
                  <a:srgbClr val="00B050"/>
                </a:solidFill>
              </a:rPr>
              <a:t>computer network</a:t>
            </a:r>
            <a:r>
              <a:rPr lang="en-US" dirty="0">
                <a:solidFill>
                  <a:schemeClr val="tx1"/>
                </a:solidFill>
              </a:rPr>
              <a:t> is a set of connected computers. </a:t>
            </a:r>
          </a:p>
          <a:p>
            <a:pPr algn="l"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Computers on a network are called </a:t>
            </a:r>
            <a:r>
              <a:rPr lang="en-US" b="1" dirty="0">
                <a:solidFill>
                  <a:srgbClr val="00B050"/>
                </a:solidFill>
              </a:rPr>
              <a:t>nodes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l"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The connection between computers can be done via </a:t>
            </a:r>
            <a:r>
              <a:rPr lang="en-US" b="1" dirty="0">
                <a:solidFill>
                  <a:srgbClr val="00B050"/>
                </a:solidFill>
              </a:rPr>
              <a:t>cabling</a:t>
            </a:r>
            <a:r>
              <a:rPr lang="en-US" dirty="0">
                <a:solidFill>
                  <a:schemeClr val="tx1"/>
                </a:solidFill>
              </a:rPr>
              <a:t>, most commonly the Ethernet cable, or </a:t>
            </a:r>
            <a:r>
              <a:rPr lang="en-US" b="1" dirty="0">
                <a:solidFill>
                  <a:srgbClr val="00B050"/>
                </a:solidFill>
              </a:rPr>
              <a:t>wireless</a:t>
            </a:r>
            <a:r>
              <a:rPr lang="en-US" dirty="0">
                <a:solidFill>
                  <a:schemeClr val="tx1"/>
                </a:solidFill>
              </a:rPr>
              <a:t> through radio waves. </a:t>
            </a:r>
          </a:p>
          <a:p>
            <a:pPr algn="l"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Connected computers can </a:t>
            </a:r>
            <a:r>
              <a:rPr lang="en-US" b="1" dirty="0">
                <a:solidFill>
                  <a:srgbClr val="00B050"/>
                </a:solidFill>
              </a:rPr>
              <a:t>share resources</a:t>
            </a:r>
            <a:r>
              <a:rPr lang="en-US" dirty="0">
                <a:solidFill>
                  <a:schemeClr val="tx1"/>
                </a:solidFill>
              </a:rPr>
              <a:t>, like access to the Internet, printers, file servers, and others.</a:t>
            </a:r>
          </a:p>
          <a:p>
            <a:endParaRPr lang="en-US" dirty="0"/>
          </a:p>
        </p:txBody>
      </p:sp>
      <p:pic>
        <p:nvPicPr>
          <p:cNvPr id="4" name="Picture 3" descr="computer_networks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8" y="1214422"/>
            <a:ext cx="3547914" cy="2786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IRELES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6" y="4071942"/>
            <a:ext cx="3449256" cy="2544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>
                <a:solidFill>
                  <a:srgbClr val="00B050"/>
                </a:solidFill>
              </a:rPr>
              <a:t>NEED OF NETWORKING: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 </a:t>
            </a:r>
            <a:r>
              <a:rPr lang="en-US" b="1" i="1" dirty="0">
                <a:solidFill>
                  <a:srgbClr val="00B0F0"/>
                </a:solidFill>
              </a:rPr>
              <a:t>Resource sharing</a:t>
            </a:r>
            <a:r>
              <a:rPr lang="en-US" dirty="0"/>
              <a:t>: the goal is to make all programs, equipment’s and data available at any one on the network can share to remains without physically locate</a:t>
            </a:r>
          </a:p>
          <a:p>
            <a:pPr>
              <a:buFont typeface="Wingdings" pitchFamily="2" charset="2"/>
              <a:buChar char="Ø"/>
            </a:pPr>
            <a:r>
              <a:rPr lang="en-US" b="1" i="1" dirty="0">
                <a:solidFill>
                  <a:srgbClr val="00B0F0"/>
                </a:solidFill>
              </a:rPr>
              <a:t>High reliability:</a:t>
            </a:r>
            <a:r>
              <a:rPr lang="en-US" dirty="0">
                <a:solidFill>
                  <a:srgbClr val="00B0F0"/>
                </a:solidFill>
              </a:rPr>
              <a:t>  </a:t>
            </a:r>
            <a:r>
              <a:rPr lang="en-US" dirty="0"/>
              <a:t>the goal is to provide alternative source for supply. </a:t>
            </a:r>
          </a:p>
          <a:p>
            <a:pPr>
              <a:buFont typeface="Wingdings" pitchFamily="2" charset="2"/>
              <a:buChar char="Ø"/>
            </a:pPr>
            <a:r>
              <a:rPr lang="en-US" b="1" i="1" dirty="0">
                <a:solidFill>
                  <a:srgbClr val="00B0F0"/>
                </a:solidFill>
              </a:rPr>
              <a:t>Communication medium: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/>
              <a:t>network needs for every computer communication.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Elements of network: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43362" cy="5114948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i="1" dirty="0">
                <a:solidFill>
                  <a:srgbClr val="002060"/>
                </a:solidFill>
              </a:rPr>
              <a:t>At least two computers, server or clients</a:t>
            </a:r>
            <a:endParaRPr lang="en-US" dirty="0">
              <a:solidFill>
                <a:srgbClr val="00206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i="1" dirty="0">
                <a:solidFill>
                  <a:srgbClr val="002060"/>
                </a:solidFill>
              </a:rPr>
              <a:t>Network interface card (NIC)</a:t>
            </a:r>
            <a:endParaRPr lang="en-US" dirty="0">
              <a:solidFill>
                <a:srgbClr val="00206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A connection medium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Network operating system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 descr="how to connect two computers with ethernet cable (in hindi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26514" y="1357298"/>
            <a:ext cx="3429024" cy="1928826"/>
          </a:xfrm>
          <a:prstGeom prst="rect">
            <a:avLst/>
          </a:prstGeom>
          <a:noFill/>
        </p:spPr>
      </p:pic>
      <p:pic>
        <p:nvPicPr>
          <p:cNvPr id="1028" name="Picture 4" descr="Network Interface Card (NIC) | Download Scientific Diagra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4286256"/>
            <a:ext cx="3881439" cy="2123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C00000"/>
                </a:solidFill>
              </a:rP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ADVANTAGES:</a:t>
            </a:r>
            <a:endParaRPr lang="en-US" dirty="0">
              <a:solidFill>
                <a:srgbClr val="00B050"/>
              </a:solidFill>
            </a:endParaRPr>
          </a:p>
          <a:p>
            <a:pPr lvl="0"/>
            <a:r>
              <a:rPr lang="en-US" dirty="0"/>
              <a:t>Speed </a:t>
            </a:r>
          </a:p>
          <a:p>
            <a:pPr lvl="0"/>
            <a:r>
              <a:rPr lang="en-US" dirty="0"/>
              <a:t>Cost</a:t>
            </a:r>
          </a:p>
          <a:p>
            <a:pPr lvl="0"/>
            <a:r>
              <a:rPr lang="en-US" dirty="0"/>
              <a:t>Security</a:t>
            </a:r>
          </a:p>
          <a:p>
            <a:pPr lvl="0"/>
            <a:r>
              <a:rPr lang="en-US" dirty="0"/>
              <a:t>Centralized software management </a:t>
            </a:r>
          </a:p>
          <a:p>
            <a:pPr lvl="0"/>
            <a:r>
              <a:rPr lang="en-US" i="1" dirty="0"/>
              <a:t>Resource sharing</a:t>
            </a:r>
            <a:endParaRPr lang="en-US" dirty="0"/>
          </a:p>
          <a:p>
            <a:pPr lvl="0"/>
            <a:r>
              <a:rPr lang="en-US" i="1" dirty="0"/>
              <a:t>High reliability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DISADVANTAGES: </a:t>
            </a:r>
            <a:endParaRPr lang="en-US" dirty="0">
              <a:solidFill>
                <a:srgbClr val="00B050"/>
              </a:solidFill>
            </a:endParaRPr>
          </a:p>
          <a:p>
            <a:pPr lvl="0"/>
            <a:r>
              <a:rPr lang="en-US" dirty="0"/>
              <a:t>If server fails, application may not be available</a:t>
            </a:r>
          </a:p>
          <a:p>
            <a:pPr lvl="0"/>
            <a:r>
              <a:rPr lang="en-US" dirty="0"/>
              <a:t>If network fails can cause loss of data</a:t>
            </a:r>
          </a:p>
          <a:p>
            <a:pPr lvl="0"/>
            <a:r>
              <a:rPr lang="en-US" dirty="0"/>
              <a:t>User should depend on the network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Based on </a:t>
            </a:r>
            <a:r>
              <a:rPr lang="en-US" b="1" u="sng" dirty="0">
                <a:solidFill>
                  <a:srgbClr val="00B050"/>
                </a:solidFill>
              </a:rPr>
              <a:t>Architecture</a:t>
            </a:r>
          </a:p>
          <a:p>
            <a:r>
              <a:rPr lang="en-US" b="1" dirty="0"/>
              <a:t>Peer to peer Network</a:t>
            </a:r>
          </a:p>
          <a:p>
            <a:r>
              <a:rPr lang="en-US" b="1" dirty="0"/>
              <a:t>Client Server</a:t>
            </a:r>
          </a:p>
          <a:p>
            <a:pPr>
              <a:buNone/>
            </a:pPr>
            <a:endParaRPr lang="en-US" b="1" u="sng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b="1" u="sng" dirty="0">
                <a:solidFill>
                  <a:srgbClr val="00B050"/>
                </a:solidFill>
              </a:rPr>
              <a:t>Based on Topology</a:t>
            </a:r>
            <a:endParaRPr lang="en-US" b="1" dirty="0">
              <a:solidFill>
                <a:srgbClr val="00B050"/>
              </a:solidFill>
            </a:endParaRPr>
          </a:p>
          <a:p>
            <a:pPr lvl="0"/>
            <a:r>
              <a:rPr lang="en-US" b="1" i="1" dirty="0"/>
              <a:t>Bus Topology</a:t>
            </a:r>
            <a:endParaRPr lang="en-US" dirty="0"/>
          </a:p>
          <a:p>
            <a:pPr lvl="0"/>
            <a:r>
              <a:rPr lang="en-US" b="1" i="1" dirty="0"/>
              <a:t>Ring Topology</a:t>
            </a:r>
            <a:endParaRPr lang="en-US" dirty="0"/>
          </a:p>
          <a:p>
            <a:pPr lvl="0"/>
            <a:r>
              <a:rPr lang="en-US" b="1" i="1" dirty="0"/>
              <a:t>Star Topology</a:t>
            </a:r>
            <a:endParaRPr lang="en-US" dirty="0"/>
          </a:p>
          <a:p>
            <a:pPr lvl="0"/>
            <a:r>
              <a:rPr lang="en-US" b="1" i="1" dirty="0"/>
              <a:t>Mesh Topology</a:t>
            </a:r>
            <a:endParaRPr lang="en-US" dirty="0"/>
          </a:p>
          <a:p>
            <a:pPr lvl="0"/>
            <a:r>
              <a:rPr lang="en-US" b="1" i="1" dirty="0"/>
              <a:t>Tree Topology</a:t>
            </a:r>
            <a:endParaRPr lang="en-US" dirty="0"/>
          </a:p>
          <a:p>
            <a:endParaRPr lang="en-US" b="1" dirty="0">
              <a:solidFill>
                <a:srgbClr val="00B050"/>
              </a:solidFill>
            </a:endParaRPr>
          </a:p>
          <a:p>
            <a:pPr>
              <a:buNone/>
            </a:pPr>
            <a:endParaRPr lang="en-US" b="1" u="sng" dirty="0">
              <a:solidFill>
                <a:srgbClr val="00B05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25742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Based on </a:t>
            </a:r>
            <a:r>
              <a:rPr lang="en-US" b="1" u="sng" dirty="0">
                <a:solidFill>
                  <a:srgbClr val="00B050"/>
                </a:solidFill>
              </a:rPr>
              <a:t>area </a:t>
            </a:r>
          </a:p>
          <a:p>
            <a:r>
              <a:rPr lang="en-US" b="1" dirty="0"/>
              <a:t>LAN</a:t>
            </a:r>
          </a:p>
          <a:p>
            <a:r>
              <a:rPr lang="en-US" b="1" dirty="0"/>
              <a:t>MAN</a:t>
            </a:r>
          </a:p>
          <a:p>
            <a:r>
              <a:rPr lang="en-US" b="1" dirty="0"/>
              <a:t>WAN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Bus Topology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ü"/>
            </a:pPr>
            <a:r>
              <a:rPr lang="en-US" dirty="0"/>
              <a:t>Each </a:t>
            </a:r>
            <a:r>
              <a:rPr lang="en-US" b="1" dirty="0"/>
              <a:t>node</a:t>
            </a:r>
            <a:r>
              <a:rPr lang="en-US" dirty="0"/>
              <a:t> in bus topology connected to a </a:t>
            </a:r>
            <a:r>
              <a:rPr lang="en-US" b="1" dirty="0">
                <a:solidFill>
                  <a:srgbClr val="00B050"/>
                </a:solidFill>
              </a:rPr>
              <a:t>single cable </a:t>
            </a:r>
            <a:r>
              <a:rPr lang="en-US" dirty="0"/>
              <a:t>with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 the help of interface connectors. 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/>
              <a:t>This </a:t>
            </a:r>
            <a:r>
              <a:rPr lang="en-US" b="1" dirty="0"/>
              <a:t>central cable </a:t>
            </a:r>
            <a:r>
              <a:rPr lang="en-US" dirty="0"/>
              <a:t>is the </a:t>
            </a:r>
            <a:r>
              <a:rPr lang="en-US" b="1" dirty="0">
                <a:solidFill>
                  <a:srgbClr val="00B050"/>
                </a:solidFill>
              </a:rPr>
              <a:t>backbone</a:t>
            </a:r>
            <a:r>
              <a:rPr lang="en-US" dirty="0"/>
              <a:t> of the network and is known as the </a:t>
            </a:r>
            <a:r>
              <a:rPr lang="en-US" b="1" i="1" dirty="0">
                <a:solidFill>
                  <a:srgbClr val="00B050"/>
                </a:solidFill>
              </a:rPr>
              <a:t>bus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8" y="2571744"/>
            <a:ext cx="31527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614998" cy="4900634"/>
          </a:xfrm>
        </p:spPr>
        <p:txBody>
          <a:bodyPr>
            <a:normAutofit fontScale="92500" lnSpcReduction="20000"/>
          </a:bodyPr>
          <a:lstStyle/>
          <a:p>
            <a:pPr lvl="0">
              <a:buFont typeface="Wingdings" pitchFamily="2" charset="2"/>
              <a:buChar char="ü"/>
            </a:pPr>
            <a:r>
              <a:rPr lang="en-US" b="1" dirty="0"/>
              <a:t>A </a:t>
            </a:r>
            <a:r>
              <a:rPr lang="en-US" b="1" dirty="0">
                <a:solidFill>
                  <a:srgbClr val="00B050"/>
                </a:solidFill>
              </a:rPr>
              <a:t>signal</a:t>
            </a:r>
            <a:r>
              <a:rPr lang="en-US" b="1" dirty="0"/>
              <a:t> from the source travels in </a:t>
            </a:r>
            <a:r>
              <a:rPr lang="en-US" b="1" dirty="0">
                <a:solidFill>
                  <a:srgbClr val="00B050"/>
                </a:solidFill>
              </a:rPr>
              <a:t>both directions </a:t>
            </a:r>
            <a:r>
              <a:rPr lang="en-US" b="1" dirty="0"/>
              <a:t>to all machines connected on the bus  until it finds the </a:t>
            </a:r>
            <a:r>
              <a:rPr lang="en-US" b="1" dirty="0">
                <a:solidFill>
                  <a:srgbClr val="00B050"/>
                </a:solidFill>
              </a:rPr>
              <a:t>intended recipient</a:t>
            </a:r>
            <a:r>
              <a:rPr lang="en-US" b="1" dirty="0"/>
              <a:t>.</a:t>
            </a:r>
          </a:p>
          <a:p>
            <a:pPr lvl="0">
              <a:buFont typeface="Wingdings" pitchFamily="2" charset="2"/>
              <a:buChar char="ü"/>
            </a:pPr>
            <a:r>
              <a:rPr lang="en-US" b="1" dirty="0"/>
              <a:t> If the </a:t>
            </a:r>
            <a:r>
              <a:rPr lang="en-US" b="1" dirty="0">
                <a:solidFill>
                  <a:srgbClr val="C00000"/>
                </a:solidFill>
              </a:rPr>
              <a:t>machine address </a:t>
            </a:r>
            <a:r>
              <a:rPr lang="en-US" b="1" dirty="0"/>
              <a:t>does not match the </a:t>
            </a:r>
            <a:r>
              <a:rPr lang="en-US" b="1" dirty="0">
                <a:solidFill>
                  <a:srgbClr val="C00000"/>
                </a:solidFill>
              </a:rPr>
              <a:t>intended address </a:t>
            </a:r>
            <a:r>
              <a:rPr lang="en-US" b="1" dirty="0"/>
              <a:t>for the data, the </a:t>
            </a:r>
            <a:r>
              <a:rPr lang="en-US" b="1" dirty="0">
                <a:solidFill>
                  <a:srgbClr val="C00000"/>
                </a:solidFill>
              </a:rPr>
              <a:t>machine ignores the data</a:t>
            </a:r>
            <a:r>
              <a:rPr lang="en-US" b="1" dirty="0"/>
              <a:t>.</a:t>
            </a:r>
          </a:p>
          <a:p>
            <a:pPr lvl="0">
              <a:buFont typeface="Wingdings" pitchFamily="2" charset="2"/>
              <a:buChar char="ü"/>
            </a:pPr>
            <a:r>
              <a:rPr lang="en-US" b="1" dirty="0"/>
              <a:t> Alternatively, if the data matches the machine address, the data is accepted.</a:t>
            </a:r>
            <a:endParaRPr lang="en-US" dirty="0"/>
          </a:p>
          <a:p>
            <a:pPr lvl="0">
              <a:buFont typeface="Wingdings" pitchFamily="2" charset="2"/>
              <a:buChar char="ü"/>
            </a:pPr>
            <a:r>
              <a:rPr lang="en-US" b="1" dirty="0"/>
              <a:t>Both ends of the</a:t>
            </a:r>
            <a:r>
              <a:rPr lang="en-US" b="1" i="1" dirty="0"/>
              <a:t> bus </a:t>
            </a:r>
            <a:r>
              <a:rPr lang="en-US" b="1" dirty="0"/>
              <a:t>have </a:t>
            </a:r>
            <a:r>
              <a:rPr lang="en-US" b="1" dirty="0">
                <a:solidFill>
                  <a:srgbClr val="00B050"/>
                </a:solidFill>
              </a:rPr>
              <a:t>terminators</a:t>
            </a:r>
            <a:r>
              <a:rPr lang="en-US" b="1" dirty="0"/>
              <a:t>.</a:t>
            </a:r>
          </a:p>
          <a:p>
            <a:pPr lvl="0">
              <a:buFont typeface="Wingdings" pitchFamily="2" charset="2"/>
              <a:buChar char="ü"/>
            </a:pPr>
            <a:r>
              <a:rPr lang="en-US" b="1" dirty="0"/>
              <a:t> If signal reaches the terminator removes the signal from the bus.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5" y="2786058"/>
            <a:ext cx="31527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Advantages  &amp; Disadvantages of Bus Topology</a:t>
            </a:r>
            <a:endParaRPr lang="en-US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u="sng" dirty="0">
                <a:solidFill>
                  <a:srgbClr val="00B050"/>
                </a:solidFill>
              </a:rPr>
              <a:t>Advantages:</a:t>
            </a:r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Easy to install and maintain</a:t>
            </a:r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Can be extended easily</a:t>
            </a:r>
          </a:p>
          <a:p>
            <a:pPr marL="571500" lvl="0" indent="-571500">
              <a:buFont typeface="+mj-lt"/>
              <a:buAutoNum type="romanLcPeriod"/>
            </a:pPr>
            <a:r>
              <a:rPr lang="en-US" dirty="0"/>
              <a:t>Very reliable because of single transmission line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Disadvantages: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US" dirty="0"/>
              <a:t>failure of the bus cable can make all other devices stop functioning.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US" dirty="0"/>
              <a:t>Troubleshooting is difficult as there is no single point of control</a:t>
            </a:r>
          </a:p>
          <a:p>
            <a:pPr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50" y="5143512"/>
            <a:ext cx="3009899" cy="1714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C00000"/>
                </a:solidFill>
              </a:rPr>
              <a:t>Ring Topology </a:t>
            </a:r>
            <a:endParaRPr lang="en-US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757874" cy="45259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In </a:t>
            </a:r>
            <a:r>
              <a:rPr lang="en-US" b="1" dirty="0">
                <a:solidFill>
                  <a:srgbClr val="00B0F0"/>
                </a:solidFill>
              </a:rPr>
              <a:t>ring topology </a:t>
            </a:r>
            <a:r>
              <a:rPr lang="en-US" dirty="0"/>
              <a:t>each node connects to </a:t>
            </a:r>
            <a:r>
              <a:rPr lang="en-US" b="1" dirty="0">
                <a:solidFill>
                  <a:srgbClr val="00B0F0"/>
                </a:solidFill>
              </a:rPr>
              <a:t>exactly two other nodes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The structure of the network like ring</a:t>
            </a:r>
          </a:p>
          <a:p>
            <a:pPr lvl="0"/>
            <a:r>
              <a:rPr lang="en-US" dirty="0"/>
              <a:t>There is </a:t>
            </a:r>
            <a:r>
              <a:rPr lang="en-US" b="1" dirty="0">
                <a:solidFill>
                  <a:srgbClr val="00B0F0"/>
                </a:solidFill>
              </a:rPr>
              <a:t>no central controller</a:t>
            </a:r>
            <a:r>
              <a:rPr lang="en-US" dirty="0"/>
              <a:t>, all systems with same priority.</a:t>
            </a:r>
          </a:p>
          <a:p>
            <a:pPr lvl="0"/>
            <a:r>
              <a:rPr lang="en-US" dirty="0"/>
              <a:t>Data/signals travel from </a:t>
            </a:r>
            <a:r>
              <a:rPr lang="en-US" b="1" dirty="0">
                <a:solidFill>
                  <a:srgbClr val="00B0F0"/>
                </a:solidFill>
              </a:rPr>
              <a:t>one node to another</a:t>
            </a:r>
            <a:r>
              <a:rPr lang="en-US" dirty="0"/>
              <a:t>, until it finds the destination device.</a:t>
            </a:r>
          </a:p>
          <a:p>
            <a:pPr lvl="0"/>
            <a:r>
              <a:rPr lang="en-US" dirty="0"/>
              <a:t>There is </a:t>
            </a:r>
            <a:r>
              <a:rPr lang="en-US" b="1" dirty="0">
                <a:solidFill>
                  <a:srgbClr val="00B0F0"/>
                </a:solidFill>
              </a:rPr>
              <a:t>no data collisions</a:t>
            </a:r>
          </a:p>
          <a:p>
            <a:pPr lvl="0"/>
            <a:r>
              <a:rPr lang="en-US" dirty="0"/>
              <a:t>it is classified into </a:t>
            </a:r>
            <a:r>
              <a:rPr lang="en-US" b="1" dirty="0">
                <a:solidFill>
                  <a:srgbClr val="00B0F0"/>
                </a:solidFill>
              </a:rPr>
              <a:t>single ring topology</a:t>
            </a:r>
            <a:r>
              <a:rPr lang="en-US" dirty="0"/>
              <a:t>, </a:t>
            </a:r>
            <a:r>
              <a:rPr lang="en-US" b="1" dirty="0">
                <a:solidFill>
                  <a:srgbClr val="00B0F0"/>
                </a:solidFill>
              </a:rPr>
              <a:t>dual –ring topology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50" y="1785926"/>
            <a:ext cx="27860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C00000"/>
                </a:solidFill>
              </a:rPr>
              <a:t>Advantages &amp; Disadvantages of     Ring Topology </a:t>
            </a:r>
            <a:endParaRPr lang="en-US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i="1" u="sng" dirty="0">
                <a:solidFill>
                  <a:srgbClr val="00B050"/>
                </a:solidFill>
              </a:rPr>
              <a:t>Advantages of Ring Topology :</a:t>
            </a:r>
            <a:endParaRPr lang="en-US" u="sng" dirty="0">
              <a:solidFill>
                <a:srgbClr val="00B050"/>
              </a:solidFill>
            </a:endParaRPr>
          </a:p>
          <a:p>
            <a:pPr lvl="0"/>
            <a:r>
              <a:rPr lang="en-US" i="1" dirty="0"/>
              <a:t>Easy to install new devices into the network</a:t>
            </a:r>
            <a:endParaRPr lang="en-US" dirty="0"/>
          </a:p>
          <a:p>
            <a:pPr lvl="0"/>
            <a:r>
              <a:rPr lang="en-US" i="1" dirty="0"/>
              <a:t>No </a:t>
            </a:r>
            <a:r>
              <a:rPr lang="en-US" b="1" i="1" dirty="0">
                <a:solidFill>
                  <a:srgbClr val="00B0F0"/>
                </a:solidFill>
              </a:rPr>
              <a:t>data packet collisions </a:t>
            </a:r>
            <a:r>
              <a:rPr lang="en-US" i="1" dirty="0"/>
              <a:t>in the network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i="1" u="sng" dirty="0">
                <a:solidFill>
                  <a:srgbClr val="FF0000"/>
                </a:solidFill>
              </a:rPr>
              <a:t>Disadvantages of Ring Topology:</a:t>
            </a:r>
            <a:endParaRPr lang="en-US" b="1" u="sng" dirty="0">
              <a:solidFill>
                <a:srgbClr val="FF0000"/>
              </a:solidFill>
            </a:endParaRPr>
          </a:p>
          <a:p>
            <a:pPr lvl="0"/>
            <a:r>
              <a:rPr lang="en-US" i="1" dirty="0"/>
              <a:t>If any device/wire fails in the network, entire network fail.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C00000"/>
                </a:solidFill>
              </a:rPr>
              <a:t>Star Topology</a:t>
            </a:r>
            <a:endParaRPr lang="en-US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043494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dirty="0"/>
          </a:p>
          <a:p>
            <a:pPr lvl="0">
              <a:buFont typeface="Wingdings" pitchFamily="2" charset="2"/>
              <a:buChar char="ü"/>
            </a:pPr>
            <a:r>
              <a:rPr lang="en-US" dirty="0"/>
              <a:t>In which each node directly connected with </a:t>
            </a:r>
            <a:r>
              <a:rPr lang="en-US" b="1" dirty="0">
                <a:solidFill>
                  <a:srgbClr val="00B0F0"/>
                </a:solidFill>
              </a:rPr>
              <a:t>central controller</a:t>
            </a:r>
            <a:r>
              <a:rPr lang="en-US" dirty="0"/>
              <a:t> </a:t>
            </a:r>
            <a:r>
              <a:rPr lang="en-US" dirty="0" err="1"/>
              <a:t>i.e</a:t>
            </a:r>
            <a:r>
              <a:rPr lang="en-US" dirty="0"/>
              <a:t> hub/switch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/>
              <a:t>Data to be transmitted through the central controller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/>
              <a:t>The central controller control/manages all the functions of the network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/>
              <a:t>The </a:t>
            </a:r>
            <a:r>
              <a:rPr lang="en-US" b="1" dirty="0">
                <a:solidFill>
                  <a:srgbClr val="00B0F0"/>
                </a:solidFill>
              </a:rPr>
              <a:t>structure of the network like star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22" y="2500306"/>
            <a:ext cx="3043237" cy="235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Advantages &amp; Disadvantage of       Star Topology</a:t>
            </a:r>
            <a:endParaRPr lang="en-US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75762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i="1" u="sng" dirty="0">
                <a:solidFill>
                  <a:srgbClr val="00B050"/>
                </a:solidFill>
              </a:rPr>
              <a:t>Advantages</a:t>
            </a:r>
            <a:endParaRPr lang="en-US" u="sng" dirty="0">
              <a:solidFill>
                <a:srgbClr val="00B050"/>
              </a:solidFill>
            </a:endParaRPr>
          </a:p>
          <a:p>
            <a:pPr lvl="0"/>
            <a:r>
              <a:rPr lang="en-US" dirty="0"/>
              <a:t>Easy to install and wire</a:t>
            </a:r>
          </a:p>
          <a:p>
            <a:pPr lvl="0"/>
            <a:r>
              <a:rPr lang="en-US" dirty="0"/>
              <a:t>Easy to </a:t>
            </a:r>
            <a:r>
              <a:rPr lang="en-US" b="1" dirty="0">
                <a:solidFill>
                  <a:srgbClr val="00B050"/>
                </a:solidFill>
              </a:rPr>
              <a:t>delete the faulty devices</a:t>
            </a:r>
            <a:r>
              <a:rPr lang="en-US" dirty="0"/>
              <a:t> from network</a:t>
            </a:r>
          </a:p>
          <a:p>
            <a:pPr lvl="0"/>
            <a:r>
              <a:rPr lang="en-US" dirty="0"/>
              <a:t>Because of the central controller, </a:t>
            </a:r>
            <a:r>
              <a:rPr lang="en-US" b="1" dirty="0">
                <a:solidFill>
                  <a:srgbClr val="00B050"/>
                </a:solidFill>
              </a:rPr>
              <a:t>operation on the network easy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i="1" u="sng" dirty="0">
                <a:solidFill>
                  <a:srgbClr val="FF0000"/>
                </a:solidFill>
              </a:rPr>
              <a:t>Disadvantages</a:t>
            </a:r>
            <a:endParaRPr lang="en-US" u="sng" dirty="0">
              <a:solidFill>
                <a:srgbClr val="FF0000"/>
              </a:solidFill>
            </a:endParaRPr>
          </a:p>
          <a:p>
            <a:pPr lvl="0"/>
            <a:r>
              <a:rPr lang="en-US" i="1" dirty="0"/>
              <a:t>Require </a:t>
            </a:r>
            <a:r>
              <a:rPr lang="en-US" b="1" i="1" dirty="0">
                <a:solidFill>
                  <a:srgbClr val="FF0000"/>
                </a:solidFill>
              </a:rPr>
              <a:t>more cables </a:t>
            </a:r>
            <a:r>
              <a:rPr lang="en-US" i="1" dirty="0"/>
              <a:t>than bus topology</a:t>
            </a:r>
            <a:endParaRPr lang="en-US" dirty="0"/>
          </a:p>
          <a:p>
            <a:pPr lvl="0"/>
            <a:r>
              <a:rPr lang="en-US" i="1" dirty="0"/>
              <a:t>If </a:t>
            </a:r>
            <a:r>
              <a:rPr lang="en-US" b="1" i="1" dirty="0">
                <a:solidFill>
                  <a:srgbClr val="FF0000"/>
                </a:solidFill>
              </a:rPr>
              <a:t>central controller fails</a:t>
            </a:r>
            <a:r>
              <a:rPr lang="en-US" i="1" dirty="0"/>
              <a:t>, </a:t>
            </a:r>
            <a:r>
              <a:rPr lang="en-US" b="1" i="1" dirty="0">
                <a:solidFill>
                  <a:srgbClr val="FF0000"/>
                </a:solidFill>
              </a:rPr>
              <a:t>nodes</a:t>
            </a:r>
            <a:r>
              <a:rPr lang="en-US" i="1" dirty="0"/>
              <a:t> which are connected </a:t>
            </a:r>
            <a:r>
              <a:rPr lang="en-US" b="1" i="1" dirty="0">
                <a:solidFill>
                  <a:srgbClr val="FF0000"/>
                </a:solidFill>
              </a:rPr>
              <a:t>are disabled</a:t>
            </a:r>
            <a:r>
              <a:rPr lang="en-US" i="1" dirty="0"/>
              <a:t>.</a:t>
            </a:r>
            <a:endParaRPr lang="en-US" dirty="0"/>
          </a:p>
          <a:p>
            <a:pPr lvl="0"/>
            <a:r>
              <a:rPr lang="en-US" i="1" dirty="0"/>
              <a:t>It is costlier, because central controller.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41" y="5000635"/>
            <a:ext cx="2643206" cy="150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Mesh Topology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85860"/>
            <a:ext cx="4038600" cy="4840303"/>
          </a:xfrm>
        </p:spPr>
        <p:txBody>
          <a:bodyPr>
            <a:normAutofit lnSpcReduction="10000"/>
          </a:bodyPr>
          <a:lstStyle/>
          <a:p>
            <a:pPr lvl="0"/>
            <a:r>
              <a:rPr lang="en-US" i="1" dirty="0"/>
              <a:t>In mesh topology </a:t>
            </a:r>
            <a:r>
              <a:rPr lang="en-US" b="1" i="1" dirty="0">
                <a:solidFill>
                  <a:srgbClr val="00B0F0"/>
                </a:solidFill>
              </a:rPr>
              <a:t>every node physically connected to other device</a:t>
            </a:r>
            <a:r>
              <a:rPr lang="en-US" i="1" dirty="0"/>
              <a:t> on the network</a:t>
            </a:r>
            <a:endParaRPr lang="en-US" dirty="0"/>
          </a:p>
          <a:p>
            <a:pPr lvl="0"/>
            <a:r>
              <a:rPr lang="en-US" i="1" dirty="0"/>
              <a:t>It provides </a:t>
            </a:r>
            <a:r>
              <a:rPr lang="en-US" b="1" i="1" dirty="0">
                <a:solidFill>
                  <a:srgbClr val="00B0F0"/>
                </a:solidFill>
              </a:rPr>
              <a:t>great performance</a:t>
            </a:r>
            <a:r>
              <a:rPr lang="en-US" i="1" dirty="0"/>
              <a:t> and </a:t>
            </a:r>
            <a:r>
              <a:rPr lang="en-US" b="1" i="1" dirty="0">
                <a:solidFill>
                  <a:srgbClr val="00B0F0"/>
                </a:solidFill>
              </a:rPr>
              <a:t>reliability</a:t>
            </a:r>
            <a:endParaRPr lang="en-US" b="1" dirty="0">
              <a:solidFill>
                <a:srgbClr val="00B0F0"/>
              </a:solidFill>
            </a:endParaRPr>
          </a:p>
          <a:p>
            <a:pPr lvl="0"/>
            <a:r>
              <a:rPr lang="en-US" i="1" dirty="0"/>
              <a:t> if number of nodes increases in the network the </a:t>
            </a:r>
            <a:r>
              <a:rPr lang="en-US" b="1" i="1" dirty="0">
                <a:solidFill>
                  <a:srgbClr val="00B0F0"/>
                </a:solidFill>
              </a:rPr>
              <a:t>complexity of the network also increases</a:t>
            </a:r>
            <a:endParaRPr lang="en-US" b="1" dirty="0">
              <a:solidFill>
                <a:srgbClr val="00B0F0"/>
              </a:solidFill>
            </a:endParaRP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8" y="1571612"/>
            <a:ext cx="3686172" cy="4310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C00000"/>
                </a:solidFill>
              </a:rPr>
              <a:t>Advantages &amp; Disadvantages of Mesh Topology</a:t>
            </a:r>
            <a:endParaRPr lang="en-US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4004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i="1" u="sng" dirty="0">
                <a:solidFill>
                  <a:srgbClr val="00B050"/>
                </a:solidFill>
              </a:rPr>
              <a:t>Advantages</a:t>
            </a:r>
            <a:endParaRPr lang="en-US" u="sng" dirty="0">
              <a:solidFill>
                <a:srgbClr val="00B050"/>
              </a:solidFill>
            </a:endParaRPr>
          </a:p>
          <a:p>
            <a:pPr lvl="0"/>
            <a:r>
              <a:rPr lang="en-US" i="1" dirty="0"/>
              <a:t>In which node can transmit data from one node to many other nodes at the same time</a:t>
            </a:r>
            <a:endParaRPr lang="en-US" dirty="0"/>
          </a:p>
          <a:p>
            <a:pPr lvl="0"/>
            <a:r>
              <a:rPr lang="en-US" i="1" dirty="0"/>
              <a:t>Eliminates traffic problems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i="1" u="sng" dirty="0">
                <a:solidFill>
                  <a:srgbClr val="FF0000"/>
                </a:solidFill>
              </a:rPr>
              <a:t>Disadvantages</a:t>
            </a:r>
            <a:endParaRPr lang="en-US" u="sng" dirty="0">
              <a:solidFill>
                <a:srgbClr val="FF0000"/>
              </a:solidFill>
            </a:endParaRPr>
          </a:p>
          <a:p>
            <a:pPr lvl="0"/>
            <a:r>
              <a:rPr lang="en-US" i="1" dirty="0"/>
              <a:t>Huge amount of cables requires</a:t>
            </a:r>
            <a:endParaRPr lang="en-US" dirty="0"/>
          </a:p>
          <a:p>
            <a:pPr lvl="0"/>
            <a:r>
              <a:rPr lang="en-US" i="1" dirty="0"/>
              <a:t>Installation of node/network is difficult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88" y="4333081"/>
            <a:ext cx="2686040" cy="2524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Tree Topology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Tree Topology is </a:t>
            </a:r>
            <a:r>
              <a:rPr lang="en-US" b="1" dirty="0">
                <a:solidFill>
                  <a:srgbClr val="00B0F0"/>
                </a:solidFill>
              </a:rPr>
              <a:t>having a tree structure </a:t>
            </a:r>
            <a:r>
              <a:rPr lang="en-US" dirty="0"/>
              <a:t>in which all the computers are connected like the branches which are connected with the tree.</a:t>
            </a:r>
          </a:p>
          <a:p>
            <a:r>
              <a:rPr lang="en-US" dirty="0"/>
              <a:t>tree topology is called a </a:t>
            </a:r>
            <a:r>
              <a:rPr lang="en-US" b="1" dirty="0">
                <a:solidFill>
                  <a:srgbClr val="00B0F0"/>
                </a:solidFill>
              </a:rPr>
              <a:t>combination of a Bus and Star network topology.</a:t>
            </a:r>
          </a:p>
        </p:txBody>
      </p:sp>
      <p:pic>
        <p:nvPicPr>
          <p:cNvPr id="5" name="Content Placeholder 4" descr="Screenshot 2024-08-01 101406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86380" y="1285860"/>
            <a:ext cx="3353182" cy="2357454"/>
          </a:xfrm>
        </p:spPr>
      </p:pic>
      <p:pic>
        <p:nvPicPr>
          <p:cNvPr id="6" name="Picture 5" descr="Screenshot 2024-08-01 1016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6" y="4071942"/>
            <a:ext cx="3608048" cy="22860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C00000"/>
                </a:solidFill>
              </a:rPr>
              <a:t>Advantages &amp; Disadvantages of Tree Topology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58204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8700" dirty="0"/>
              <a:t>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25536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00B050"/>
                </a:solidFill>
              </a:rPr>
              <a:t> Classification of the Networks    Based on area </a:t>
            </a:r>
            <a:br>
              <a:rPr lang="en-US" b="1" u="sng" dirty="0">
                <a:solidFill>
                  <a:srgbClr val="00B050"/>
                </a:solidFill>
              </a:rPr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901014" cy="4525963"/>
          </a:xfrm>
        </p:spPr>
        <p:txBody>
          <a:bodyPr/>
          <a:lstStyle/>
          <a:p>
            <a:r>
              <a:rPr lang="en-US" b="1" dirty="0"/>
              <a:t>LAN  (Local Area Network)</a:t>
            </a:r>
          </a:p>
          <a:p>
            <a:r>
              <a:rPr lang="en-US" b="1" dirty="0"/>
              <a:t>MAN (Metropolitan Area Network)</a:t>
            </a:r>
          </a:p>
          <a:p>
            <a:r>
              <a:rPr lang="en-US" b="1" dirty="0"/>
              <a:t>WAN (Wide Area Network)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7030A0"/>
                </a:solidFill>
              </a:rPr>
              <a:t>Local Area Network (LAN)</a:t>
            </a:r>
            <a:br>
              <a:rPr lang="en-US" u="sng" dirty="0">
                <a:solidFill>
                  <a:srgbClr val="7030A0"/>
                </a:solidFill>
              </a:rPr>
            </a:br>
            <a:endParaRPr lang="en-US" u="sng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596" y="1071546"/>
            <a:ext cx="5400684" cy="5643602"/>
          </a:xfrm>
        </p:spPr>
        <p:txBody>
          <a:bodyPr>
            <a:normAutofit fontScale="77500" lnSpcReduction="20000"/>
          </a:bodyPr>
          <a:lstStyle/>
          <a:p>
            <a:pPr marL="514350" lvl="0" indent="-514350">
              <a:buFont typeface="+mj-lt"/>
              <a:buAutoNum type="arabicParenR"/>
            </a:pPr>
            <a:r>
              <a:rPr lang="en-US" dirty="0"/>
              <a:t>It is also called LAN 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dirty="0"/>
              <a:t>LAN </a:t>
            </a:r>
            <a:r>
              <a:rPr lang="en-US" dirty="0">
                <a:solidFill>
                  <a:srgbClr val="7030A0"/>
                </a:solidFill>
              </a:rPr>
              <a:t>designed</a:t>
            </a:r>
            <a:r>
              <a:rPr lang="en-US" dirty="0"/>
              <a:t> for </a:t>
            </a:r>
            <a:r>
              <a:rPr lang="en-US" dirty="0">
                <a:solidFill>
                  <a:srgbClr val="7030A0"/>
                </a:solidFill>
              </a:rPr>
              <a:t>small physical areas </a:t>
            </a:r>
            <a:r>
              <a:rPr lang="en-US" dirty="0"/>
              <a:t>such as an </a:t>
            </a:r>
            <a:r>
              <a:rPr lang="en-US" dirty="0">
                <a:solidFill>
                  <a:srgbClr val="7030A0"/>
                </a:solidFill>
              </a:rPr>
              <a:t>office, group of buildings or a factory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dirty="0"/>
              <a:t>LANs are used widely as it is </a:t>
            </a:r>
            <a:r>
              <a:rPr lang="en-US" dirty="0">
                <a:solidFill>
                  <a:srgbClr val="7030A0"/>
                </a:solidFill>
              </a:rPr>
              <a:t>easy to design and to troubleshoot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dirty="0">
                <a:solidFill>
                  <a:srgbClr val="7030A0"/>
                </a:solidFill>
              </a:rPr>
              <a:t>Personal computers and workstations are connected</a:t>
            </a:r>
            <a:r>
              <a:rPr lang="en-US" dirty="0"/>
              <a:t> to each other through LANs.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dirty="0"/>
              <a:t>LAN can be a simple network like </a:t>
            </a:r>
            <a:r>
              <a:rPr lang="en-US" dirty="0">
                <a:solidFill>
                  <a:srgbClr val="7030A0"/>
                </a:solidFill>
              </a:rPr>
              <a:t>connecting two computers</a:t>
            </a:r>
            <a:r>
              <a:rPr lang="en-US" dirty="0"/>
              <a:t>, to share files and network among each other while it can also be as complex as interconnecting an entire building.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dirty="0"/>
              <a:t>We can </a:t>
            </a:r>
            <a:r>
              <a:rPr lang="en-US" dirty="0">
                <a:solidFill>
                  <a:srgbClr val="7030A0"/>
                </a:solidFill>
              </a:rPr>
              <a:t>use different types of topologies through LAN</a:t>
            </a:r>
            <a:r>
              <a:rPr lang="en-US" dirty="0"/>
              <a:t>, these are Star, Ring, Bus, Tree etc.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LAN networks are also widely used to share resources like printers, shared hard-drive etc</a:t>
            </a:r>
          </a:p>
          <a:p>
            <a:endParaRPr lang="en-US" dirty="0"/>
          </a:p>
        </p:txBody>
      </p:sp>
      <p:pic>
        <p:nvPicPr>
          <p:cNvPr id="5" name="Picture 4" descr="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8" y="1500174"/>
            <a:ext cx="2786082" cy="2319341"/>
          </a:xfrm>
          <a:prstGeom prst="rect">
            <a:avLst/>
          </a:prstGeom>
        </p:spPr>
      </p:pic>
      <p:pic>
        <p:nvPicPr>
          <p:cNvPr id="6" name="Picture 5" descr="Screenshot 2024-08-01 1028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153" y="3923890"/>
            <a:ext cx="3200847" cy="29341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7030A0"/>
                </a:solidFill>
              </a:rPr>
              <a:t>MAN (Metropolitan Area Network)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metropolitan area network (MAN) is a computer network that connects computers within a </a:t>
            </a:r>
            <a:r>
              <a:rPr lang="en-US" b="1" dirty="0">
                <a:solidFill>
                  <a:srgbClr val="7030A0"/>
                </a:solidFill>
              </a:rPr>
              <a:t>metropolitan area</a:t>
            </a:r>
            <a:r>
              <a:rPr lang="en-US" dirty="0"/>
              <a:t>, which could be a </a:t>
            </a:r>
            <a:r>
              <a:rPr lang="en-US" b="1" dirty="0">
                <a:solidFill>
                  <a:srgbClr val="7030A0"/>
                </a:solidFill>
              </a:rPr>
              <a:t>single large city, multiple cities and towns, or any given large area with multiple buildings. </a:t>
            </a:r>
          </a:p>
          <a:p>
            <a:r>
              <a:rPr lang="en-US" dirty="0"/>
              <a:t>A MAN is larger than a </a:t>
            </a:r>
            <a:r>
              <a:rPr lang="en-US" dirty="0">
                <a:hlinkClick r:id="rId2"/>
              </a:rPr>
              <a:t>local area network (LAN)</a:t>
            </a:r>
            <a:r>
              <a:rPr lang="en-US" dirty="0"/>
              <a:t> but smaller than a </a:t>
            </a:r>
            <a:r>
              <a:rPr lang="en-US" dirty="0">
                <a:hlinkClick r:id="rId3"/>
              </a:rPr>
              <a:t>wide area network (WAN)</a:t>
            </a:r>
            <a:r>
              <a:rPr lang="en-US" dirty="0"/>
              <a:t>.</a:t>
            </a:r>
          </a:p>
        </p:txBody>
      </p:sp>
      <p:pic>
        <p:nvPicPr>
          <p:cNvPr id="5" name="Content Placeholder 4" descr="Screenshot 2024-08-01 104016.png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48200" y="2590713"/>
            <a:ext cx="4038600" cy="2544937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u="sng" dirty="0">
                <a:solidFill>
                  <a:srgbClr val="7030A0"/>
                </a:solidFill>
              </a:rPr>
              <a:t>Wide Area Network (WAN)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It is also called WAN. </a:t>
            </a:r>
            <a:r>
              <a:rPr lang="en-US" dirty="0">
                <a:solidFill>
                  <a:srgbClr val="7030A0"/>
                </a:solidFill>
              </a:rPr>
              <a:t>WAN can be private </a:t>
            </a:r>
            <a:r>
              <a:rPr lang="en-US" dirty="0"/>
              <a:t>or it can be </a:t>
            </a:r>
            <a:r>
              <a:rPr lang="en-US" dirty="0">
                <a:solidFill>
                  <a:srgbClr val="7030A0"/>
                </a:solidFill>
              </a:rPr>
              <a:t>public leased network.</a:t>
            </a:r>
          </a:p>
          <a:p>
            <a:pPr lvl="0"/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It</a:t>
            </a:r>
            <a:r>
              <a:rPr lang="en-US" dirty="0"/>
              <a:t> is used for the network that </a:t>
            </a:r>
            <a:r>
              <a:rPr lang="en-US" dirty="0">
                <a:solidFill>
                  <a:srgbClr val="7030A0"/>
                </a:solidFill>
              </a:rPr>
              <a:t>covers large distance </a:t>
            </a:r>
            <a:r>
              <a:rPr lang="en-US" dirty="0"/>
              <a:t>such as cover </a:t>
            </a:r>
            <a:r>
              <a:rPr lang="en-US" dirty="0">
                <a:solidFill>
                  <a:srgbClr val="7030A0"/>
                </a:solidFill>
              </a:rPr>
              <a:t>states of a country</a:t>
            </a:r>
            <a:r>
              <a:rPr lang="en-US" dirty="0"/>
              <a:t>. It is not easy to design and maintain. </a:t>
            </a:r>
          </a:p>
          <a:p>
            <a:pPr lvl="0"/>
            <a:r>
              <a:rPr lang="en-US" dirty="0"/>
              <a:t>Communication medium used by </a:t>
            </a:r>
            <a:r>
              <a:rPr lang="en-US" dirty="0">
                <a:solidFill>
                  <a:srgbClr val="7030A0"/>
                </a:solidFill>
              </a:rPr>
              <a:t>WAN are Satellite links.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Content Placeholder 4" descr="Screenshot 2024-08-01 103323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57752" y="2285992"/>
            <a:ext cx="4038600" cy="224642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Advantages and Disadvantages of LAN,MAN,WAN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329642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4400" baseline="-25000" dirty="0"/>
              <a:t>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Evolution of Internet</a:t>
            </a:r>
            <a:endParaRPr lang="en-US" b="1" u="sng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900750" cy="5043510"/>
          </a:xfrm>
        </p:spPr>
        <p:txBody>
          <a:bodyPr>
            <a:normAutofit fontScale="85000" lnSpcReduction="20000"/>
          </a:bodyPr>
          <a:lstStyle/>
          <a:p>
            <a:pPr lvl="0">
              <a:buFont typeface="Wingdings" pitchFamily="2" charset="2"/>
              <a:buChar char="ü"/>
            </a:pPr>
            <a:r>
              <a:rPr lang="en-US" i="1" dirty="0"/>
              <a:t>The concept of </a:t>
            </a:r>
            <a:r>
              <a:rPr lang="en-US" i="1" dirty="0">
                <a:solidFill>
                  <a:srgbClr val="C00000"/>
                </a:solidFill>
              </a:rPr>
              <a:t>Internet was started in 1969</a:t>
            </a:r>
            <a:endParaRPr lang="en-US" dirty="0">
              <a:solidFill>
                <a:srgbClr val="C00000"/>
              </a:solidFill>
            </a:endParaRPr>
          </a:p>
          <a:p>
            <a:pPr lvl="0">
              <a:buFont typeface="Wingdings" pitchFamily="2" charset="2"/>
              <a:buChar char="ü"/>
            </a:pPr>
            <a:r>
              <a:rPr lang="en-US" i="1" dirty="0"/>
              <a:t>The Internet is framed from the concept of </a:t>
            </a:r>
            <a:r>
              <a:rPr lang="en-US" i="1" dirty="0">
                <a:solidFill>
                  <a:srgbClr val="C00000"/>
                </a:solidFill>
              </a:rPr>
              <a:t>Advanced Research Project Agency Network (ARPANET).</a:t>
            </a:r>
            <a:endParaRPr lang="en-US" dirty="0">
              <a:solidFill>
                <a:srgbClr val="C00000"/>
              </a:solidFill>
            </a:endParaRPr>
          </a:p>
          <a:p>
            <a:pPr lvl="0">
              <a:buFont typeface="Wingdings" pitchFamily="2" charset="2"/>
              <a:buChar char="ü"/>
            </a:pPr>
            <a:r>
              <a:rPr lang="en-US" i="1" dirty="0"/>
              <a:t>ARPANET was developed by United States Department of Defense.</a:t>
            </a:r>
            <a:endParaRPr lang="en-US" dirty="0"/>
          </a:p>
          <a:p>
            <a:pPr lvl="0">
              <a:buFont typeface="Wingdings" pitchFamily="2" charset="2"/>
              <a:buChar char="ü"/>
            </a:pPr>
            <a:r>
              <a:rPr lang="en-US" i="1" dirty="0"/>
              <a:t>Basic purpose of ARPANET was to provide communication among the various bodies of government.</a:t>
            </a:r>
            <a:endParaRPr lang="en-US" dirty="0"/>
          </a:p>
          <a:p>
            <a:pPr lvl="0">
              <a:buFont typeface="Wingdings" pitchFamily="2" charset="2"/>
              <a:buChar char="ü"/>
            </a:pPr>
            <a:r>
              <a:rPr lang="en-US" i="1" dirty="0"/>
              <a:t>Initially, there were </a:t>
            </a:r>
            <a:r>
              <a:rPr lang="en-US" i="1" dirty="0">
                <a:solidFill>
                  <a:srgbClr val="C00000"/>
                </a:solidFill>
              </a:rPr>
              <a:t>only four nodes in ARPANET</a:t>
            </a:r>
            <a:endParaRPr lang="en-US" dirty="0">
              <a:solidFill>
                <a:srgbClr val="C00000"/>
              </a:solidFill>
            </a:endParaRPr>
          </a:p>
          <a:p>
            <a:pPr lvl="0">
              <a:buFont typeface="Wingdings" pitchFamily="2" charset="2"/>
              <a:buChar char="ü"/>
            </a:pPr>
            <a:r>
              <a:rPr lang="en-US" i="1" dirty="0"/>
              <a:t>In </a:t>
            </a:r>
            <a:r>
              <a:rPr lang="en-US" i="1" dirty="0">
                <a:solidFill>
                  <a:srgbClr val="C00000"/>
                </a:solidFill>
              </a:rPr>
              <a:t>1972, the ARPANET spread over the globe with 23 nodes </a:t>
            </a:r>
            <a:r>
              <a:rPr lang="en-US" i="1" dirty="0"/>
              <a:t>located at different countries and thus became known as Internet.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Screenshot 2024-08-01 105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505" y="2143116"/>
            <a:ext cx="2991495" cy="37343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i="1" u="sng" dirty="0">
                <a:solidFill>
                  <a:srgbClr val="00B0F0"/>
                </a:solidFill>
              </a:rPr>
              <a:t>Internet </a:t>
            </a:r>
            <a:br>
              <a:rPr lang="en-US" b="1" u="sng" dirty="0">
                <a:solidFill>
                  <a:srgbClr val="00B0F0"/>
                </a:solidFill>
              </a:rPr>
            </a:br>
            <a:endParaRPr lang="en-US" b="1" u="sng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1546"/>
            <a:ext cx="8186766" cy="5214974"/>
          </a:xfrm>
        </p:spPr>
        <p:txBody>
          <a:bodyPr>
            <a:normAutofit/>
          </a:bodyPr>
          <a:lstStyle/>
          <a:p>
            <a:pPr lvl="0"/>
            <a:r>
              <a:rPr lang="en-US" i="1" dirty="0"/>
              <a:t>Internet is a </a:t>
            </a:r>
            <a:r>
              <a:rPr lang="en-US" i="1" dirty="0">
                <a:solidFill>
                  <a:srgbClr val="C00000"/>
                </a:solidFill>
              </a:rPr>
              <a:t>world-wide global system </a:t>
            </a:r>
            <a:r>
              <a:rPr lang="en-US" i="1" dirty="0"/>
              <a:t>of interconnected computer networks.</a:t>
            </a:r>
            <a:endParaRPr lang="en-US" dirty="0"/>
          </a:p>
          <a:p>
            <a:pPr lvl="0"/>
            <a:r>
              <a:rPr lang="en-US" i="1" dirty="0"/>
              <a:t>Internet uses the standard </a:t>
            </a:r>
            <a:r>
              <a:rPr lang="en-US" i="1" dirty="0">
                <a:solidFill>
                  <a:srgbClr val="C00000"/>
                </a:solidFill>
              </a:rPr>
              <a:t>Internet Protocol (TCP/IP).</a:t>
            </a:r>
            <a:endParaRPr lang="en-US" dirty="0">
              <a:solidFill>
                <a:srgbClr val="C00000"/>
              </a:solidFill>
            </a:endParaRPr>
          </a:p>
          <a:p>
            <a:pPr lvl="0"/>
            <a:r>
              <a:rPr lang="en-US" i="1" dirty="0"/>
              <a:t>Every computer in internet is </a:t>
            </a:r>
            <a:r>
              <a:rPr lang="en-US" i="1" dirty="0">
                <a:solidFill>
                  <a:srgbClr val="C00000"/>
                </a:solidFill>
              </a:rPr>
              <a:t>identified by a unique IP address</a:t>
            </a:r>
            <a:r>
              <a:rPr lang="en-US" i="1" dirty="0"/>
              <a:t>.</a:t>
            </a:r>
            <a:endParaRPr lang="en-US" dirty="0"/>
          </a:p>
          <a:p>
            <a:pPr lvl="0"/>
            <a:r>
              <a:rPr lang="en-US" i="1" dirty="0"/>
              <a:t>IP Address is a unique set of numbers (such as 110.22.33.114) which identifies a computer location.</a:t>
            </a:r>
            <a:endParaRPr lang="en-US" dirty="0"/>
          </a:p>
          <a:p>
            <a:pPr lvl="0"/>
            <a:r>
              <a:rPr lang="en-US" i="1" dirty="0"/>
              <a:t>Internet is accessible to every user all over the world.</a:t>
            </a:r>
            <a:endParaRPr lang="en-US" dirty="0"/>
          </a:p>
          <a:p>
            <a:pPr lvl="0"/>
            <a:r>
              <a:rPr lang="en-US" i="1" dirty="0"/>
              <a:t>A special computer DNS </a:t>
            </a:r>
            <a:r>
              <a:rPr lang="en-US" i="1" dirty="0">
                <a:solidFill>
                  <a:srgbClr val="C00000"/>
                </a:solidFill>
              </a:rPr>
              <a:t>(Domain Name Server) </a:t>
            </a:r>
            <a:r>
              <a:rPr lang="en-US" i="1" dirty="0"/>
              <a:t>is used to give name to the IP Address so that user can locate a computer by a name.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OSI Reference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844" y="1571612"/>
            <a:ext cx="6329378" cy="504351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OSI stands for 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Open System Interconnection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 reference model that describes how information from a </a:t>
            </a:r>
            <a:r>
              <a:rPr lang="en-US" dirty="0">
                <a:latin typeface="Times New Roman" pitchFamily="18" charset="0"/>
                <a:cs typeface="Times New Roman" pitchFamily="18" charset="0"/>
                <a:hlinkClick r:id="rId2"/>
              </a:rPr>
              <a:t>software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application in one </a:t>
            </a:r>
            <a:r>
              <a:rPr lang="en-US" dirty="0">
                <a:latin typeface="Times New Roman" pitchFamily="18" charset="0"/>
                <a:cs typeface="Times New Roman" pitchFamily="18" charset="0"/>
                <a:hlinkClick r:id="rId3"/>
              </a:rPr>
              <a:t>computer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moves through a physical medium to the software application in another computer.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OSI consists of seven layers, and each layer performs a particular network function.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OSI model was developed by the International Organization for Standardization (ISO) in 1984, and it is now considered as an architectural model for the inter-computer communications.</a:t>
            </a:r>
          </a:p>
          <a:p>
            <a:pPr>
              <a:buFont typeface="Wingdings" pitchFamily="2" charset="2"/>
              <a:buChar char="ü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 descr="Screenshot 2024-08-02 1042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216" y="2500306"/>
            <a:ext cx="2421503" cy="285304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758138" cy="4525963"/>
          </a:xfrm>
        </p:spPr>
        <p:txBody>
          <a:bodyPr>
            <a:normAutofit/>
          </a:bodyPr>
          <a:lstStyle/>
          <a:p>
            <a:r>
              <a:rPr lang="en-US" dirty="0"/>
              <a:t>The OSI model is divided into two layers: </a:t>
            </a:r>
            <a:r>
              <a:rPr lang="en-US" b="1" dirty="0">
                <a:solidFill>
                  <a:srgbClr val="00B0F0"/>
                </a:solidFill>
              </a:rPr>
              <a:t>upper layers and lower layers.</a:t>
            </a:r>
          </a:p>
          <a:p>
            <a:r>
              <a:rPr lang="en-US" dirty="0"/>
              <a:t>There are the </a:t>
            </a:r>
            <a:r>
              <a:rPr lang="en-US" b="1" dirty="0">
                <a:solidFill>
                  <a:srgbClr val="00B0F0"/>
                </a:solidFill>
              </a:rPr>
              <a:t>seven OSI layers</a:t>
            </a:r>
            <a:r>
              <a:rPr lang="en-US" dirty="0"/>
              <a:t>. Each layer has different functions. A list of seven layers are given below:</a:t>
            </a:r>
          </a:p>
          <a:p>
            <a:endParaRPr lang="en-US" b="1" dirty="0">
              <a:solidFill>
                <a:srgbClr val="00B0F0"/>
              </a:solidFill>
            </a:endParaRP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857628"/>
            <a:ext cx="8929718" cy="277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Data Flow in OSI Model</a:t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57364"/>
            <a:ext cx="5186370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71975" y="1285860"/>
            <a:ext cx="4557743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Physical layer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2984"/>
            <a:ext cx="4038600" cy="49831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main functionality of the physical layer is </a:t>
            </a:r>
            <a:r>
              <a:rPr lang="en-US" b="1" dirty="0">
                <a:solidFill>
                  <a:srgbClr val="C00000"/>
                </a:solidFill>
              </a:rPr>
              <a:t>to transmit the individual bits from one node to another node</a:t>
            </a:r>
            <a:r>
              <a:rPr lang="en-US" dirty="0"/>
              <a:t>.</a:t>
            </a:r>
          </a:p>
          <a:p>
            <a:r>
              <a:rPr lang="en-US" dirty="0"/>
              <a:t>It is the </a:t>
            </a:r>
            <a:r>
              <a:rPr lang="en-US" b="1" dirty="0">
                <a:solidFill>
                  <a:srgbClr val="C00000"/>
                </a:solidFill>
              </a:rPr>
              <a:t>lowest layer of the OSI model.</a:t>
            </a:r>
          </a:p>
          <a:p>
            <a:r>
              <a:rPr lang="en-US" dirty="0"/>
              <a:t>It </a:t>
            </a:r>
            <a:r>
              <a:rPr lang="en-US" b="1" dirty="0">
                <a:solidFill>
                  <a:srgbClr val="00B050"/>
                </a:solidFill>
              </a:rPr>
              <a:t>establishes, maintains and deactivates</a:t>
            </a:r>
            <a:r>
              <a:rPr lang="en-US" dirty="0"/>
              <a:t> the physical connection.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5328" y="2285992"/>
            <a:ext cx="4948672" cy="2733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Functions of a Physical layer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u="sng" dirty="0">
                <a:solidFill>
                  <a:srgbClr val="00B050"/>
                </a:solidFill>
              </a:rPr>
              <a:t>Line Configuration:</a:t>
            </a:r>
            <a:r>
              <a:rPr lang="en-US" dirty="0"/>
              <a:t> It defines the way how two or more devices can be connected physically.</a:t>
            </a:r>
          </a:p>
          <a:p>
            <a:r>
              <a:rPr lang="en-US" b="1" dirty="0">
                <a:hlinkClick r:id="rId2"/>
              </a:rPr>
              <a:t>Data Transmission</a:t>
            </a:r>
            <a:r>
              <a:rPr lang="en-US" b="1" dirty="0"/>
              <a:t>:</a:t>
            </a:r>
            <a:r>
              <a:rPr lang="en-US" dirty="0"/>
              <a:t> It defines the transmission mode whether it is </a:t>
            </a:r>
            <a:r>
              <a:rPr lang="en-US" b="1" dirty="0">
                <a:solidFill>
                  <a:srgbClr val="00B050"/>
                </a:solidFill>
              </a:rPr>
              <a:t>simplex, half-duplex or full-duplex </a:t>
            </a:r>
            <a:r>
              <a:rPr lang="en-US" dirty="0"/>
              <a:t>mode between the two devices on the network.</a:t>
            </a:r>
          </a:p>
          <a:p>
            <a:r>
              <a:rPr lang="en-US" b="1" dirty="0">
                <a:hlinkClick r:id="rId3"/>
              </a:rPr>
              <a:t>Topology</a:t>
            </a:r>
            <a:r>
              <a:rPr lang="en-US" b="1" dirty="0"/>
              <a:t>:</a:t>
            </a:r>
            <a:r>
              <a:rPr lang="en-US" dirty="0"/>
              <a:t> It defines the way how network devices are arranged.</a:t>
            </a:r>
          </a:p>
          <a:p>
            <a:r>
              <a:rPr lang="en-US" b="1" dirty="0"/>
              <a:t>Signals:</a:t>
            </a:r>
            <a:r>
              <a:rPr lang="en-US" dirty="0"/>
              <a:t> It determines the type of the signal used for transmitting the information.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2000240"/>
            <a:ext cx="4000528" cy="2733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Data-Link Layer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57232"/>
            <a:ext cx="5614998" cy="52689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data link layer is </a:t>
            </a:r>
            <a:r>
              <a:rPr lang="en-US" b="1" dirty="0">
                <a:solidFill>
                  <a:srgbClr val="00B0F0"/>
                </a:solidFill>
              </a:rPr>
              <a:t>responsible for the node-to-node delivery of the message.</a:t>
            </a:r>
          </a:p>
          <a:p>
            <a:r>
              <a:rPr lang="en-US" dirty="0"/>
              <a:t>The main function of this layer is to </a:t>
            </a:r>
            <a:r>
              <a:rPr lang="en-US" b="1" dirty="0">
                <a:solidFill>
                  <a:srgbClr val="00B0F0"/>
                </a:solidFill>
              </a:rPr>
              <a:t>make sure data transfer is error-free from one node to another, over the physical layer</a:t>
            </a:r>
            <a:r>
              <a:rPr lang="en-US" dirty="0"/>
              <a:t>. </a:t>
            </a:r>
          </a:p>
          <a:p>
            <a:r>
              <a:rPr lang="en-US" dirty="0"/>
              <a:t>When a packet arrives in a network, it is the responsibility of the DLL to transmit it to the Host using its </a:t>
            </a:r>
            <a:r>
              <a:rPr lang="en-US" u="sng" dirty="0">
                <a:hlinkClick r:id="rId2"/>
              </a:rPr>
              <a:t>MAC address</a:t>
            </a:r>
            <a:r>
              <a:rPr lang="en-US" dirty="0"/>
              <a:t>. (</a:t>
            </a:r>
            <a:r>
              <a:rPr lang="en-US" u="sng" dirty="0">
                <a:hlinkClick r:id="rId3"/>
              </a:rPr>
              <a:t>Media Access Control</a:t>
            </a:r>
            <a:r>
              <a:rPr lang="en-US" u="sng" dirty="0"/>
              <a:t>)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8" y="2643182"/>
            <a:ext cx="3000364" cy="2305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428604"/>
            <a:ext cx="4038600" cy="6143668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packet received from the Network layer is further divided into frames </a:t>
            </a:r>
            <a:r>
              <a:rPr lang="en-US" dirty="0"/>
              <a:t>depending on the frame size of the NIC(Network Interface Card). </a:t>
            </a:r>
          </a:p>
          <a:p>
            <a:pPr fontAlgn="base"/>
            <a:r>
              <a:rPr lang="en-US" dirty="0"/>
              <a:t>DLL also encapsulates Sender and Receiver’s </a:t>
            </a:r>
            <a:r>
              <a:rPr lang="en-US" dirty="0">
                <a:solidFill>
                  <a:srgbClr val="00B0F0"/>
                </a:solidFill>
              </a:rPr>
              <a:t>MAC address in the header.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The Receiver’s MAC address is obtained by placing an </a:t>
            </a:r>
            <a:r>
              <a:rPr lang="en-US" u="sng" dirty="0">
                <a:hlinkClick r:id="rId2"/>
              </a:rPr>
              <a:t>ARP(Address Resolution Protocol) </a:t>
            </a:r>
            <a:r>
              <a:rPr lang="en-US" dirty="0"/>
              <a:t>request onto the wire asking “Who has that IP address?” and the destination host will reply with its MAC address. 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fontAlgn="base">
              <a:buNone/>
            </a:pPr>
            <a:r>
              <a:rPr lang="en-US" dirty="0"/>
              <a:t>The Data Link Layer is </a:t>
            </a:r>
            <a:r>
              <a:rPr lang="en-US" b="1" dirty="0">
                <a:solidFill>
                  <a:srgbClr val="00B0F0"/>
                </a:solidFill>
              </a:rPr>
              <a:t>divided into two </a:t>
            </a:r>
            <a:r>
              <a:rPr lang="en-US" b="1" dirty="0" err="1">
                <a:solidFill>
                  <a:srgbClr val="00B0F0"/>
                </a:solidFill>
              </a:rPr>
              <a:t>sublayers</a:t>
            </a:r>
            <a:r>
              <a:rPr lang="en-US" dirty="0"/>
              <a:t>:  </a:t>
            </a:r>
          </a:p>
          <a:p>
            <a:pPr fontAlgn="base">
              <a:buNone/>
            </a:pPr>
            <a:endParaRPr lang="en-US" dirty="0"/>
          </a:p>
          <a:p>
            <a:pPr fontAlgn="base"/>
            <a:r>
              <a:rPr lang="en-US" u="sng" dirty="0"/>
              <a:t>Logical Link Control (LLC)</a:t>
            </a:r>
          </a:p>
          <a:p>
            <a:pPr fontAlgn="base">
              <a:buNone/>
            </a:pPr>
            <a:endParaRPr lang="en-US" dirty="0"/>
          </a:p>
          <a:p>
            <a:pPr fontAlgn="base"/>
            <a:r>
              <a:rPr lang="en-US" u="sng" dirty="0"/>
              <a:t>Media Access Control (MAC)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2214554"/>
            <a:ext cx="4848828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Logical Link Control (LLC)</a:t>
            </a:r>
            <a:br>
              <a:rPr lang="en-US" u="sn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00108"/>
            <a:ext cx="4038600" cy="557216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layer controls the </a:t>
            </a:r>
            <a:r>
              <a:rPr lang="en-US" b="1" dirty="0">
                <a:solidFill>
                  <a:srgbClr val="00B0F0"/>
                </a:solidFill>
              </a:rPr>
              <a:t>flow control.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error-checking</a:t>
            </a:r>
            <a:r>
              <a:rPr lang="en-US" dirty="0"/>
              <a:t> of the data link layer is performed by LLC.</a:t>
            </a:r>
          </a:p>
          <a:p>
            <a:r>
              <a:rPr lang="en-US" dirty="0"/>
              <a:t>It can also </a:t>
            </a:r>
            <a:r>
              <a:rPr lang="en-US" dirty="0">
                <a:solidFill>
                  <a:srgbClr val="00B0F0"/>
                </a:solidFill>
              </a:rPr>
              <a:t>track the acknowledgments</a:t>
            </a:r>
            <a:r>
              <a:rPr lang="en-US" dirty="0"/>
              <a:t>.</a:t>
            </a:r>
          </a:p>
          <a:p>
            <a:r>
              <a:rPr lang="en-US" dirty="0"/>
              <a:t>While transmitting data, if LLC detects any frame loss, immediately it sends back to the source to transmit over again. </a:t>
            </a:r>
          </a:p>
          <a:p>
            <a:r>
              <a:rPr lang="en-US" dirty="0"/>
              <a:t>The LLC layer comes above the MAC layer and acts as an interface between the upper layers and the MAC layer.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1500174"/>
            <a:ext cx="363438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Medium access control (MAC) sub layer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MAC address is defined </a:t>
            </a:r>
            <a:r>
              <a:rPr lang="en-US" dirty="0"/>
              <a:t>as the </a:t>
            </a:r>
            <a:r>
              <a:rPr lang="en-US" dirty="0">
                <a:solidFill>
                  <a:srgbClr val="00B0F0"/>
                </a:solidFill>
              </a:rPr>
              <a:t>Media Access Control address</a:t>
            </a:r>
            <a:r>
              <a:rPr lang="en-US" dirty="0"/>
              <a:t>.</a:t>
            </a:r>
          </a:p>
          <a:p>
            <a:r>
              <a:rPr lang="en-US" dirty="0"/>
              <a:t> It is a </a:t>
            </a:r>
            <a:r>
              <a:rPr lang="en-US" dirty="0">
                <a:solidFill>
                  <a:srgbClr val="00B0F0"/>
                </a:solidFill>
              </a:rPr>
              <a:t>unique address </a:t>
            </a:r>
            <a:r>
              <a:rPr lang="en-US" dirty="0"/>
              <a:t>that is </a:t>
            </a:r>
            <a:r>
              <a:rPr lang="en-US" dirty="0">
                <a:solidFill>
                  <a:srgbClr val="00B0F0"/>
                </a:solidFill>
              </a:rPr>
              <a:t>allocated to </a:t>
            </a:r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NIC</a:t>
            </a:r>
            <a:r>
              <a:rPr lang="en-US" dirty="0"/>
              <a:t> of the device. It is used as an address to transmit data within </a:t>
            </a:r>
            <a:r>
              <a:rPr lang="en-US" dirty="0" err="1"/>
              <a:t>ethernet</a:t>
            </a:r>
            <a:r>
              <a:rPr lang="en-US" dirty="0"/>
              <a:t> or Wi-Fi.</a:t>
            </a:r>
          </a:p>
          <a:p>
            <a:r>
              <a:rPr lang="en-US" dirty="0"/>
              <a:t>This layer acts as an </a:t>
            </a:r>
            <a:r>
              <a:rPr lang="en-US" dirty="0">
                <a:solidFill>
                  <a:srgbClr val="00B0F0"/>
                </a:solidFill>
              </a:rPr>
              <a:t>interface between the physical layer and the LLC </a:t>
            </a:r>
            <a:r>
              <a:rPr lang="en-US" dirty="0"/>
              <a:t>layer in the OSI model.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1928802"/>
            <a:ext cx="363438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00B0F0"/>
                </a:solidFill>
              </a:rPr>
              <a:t>Functions of the Data Link Layer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00108"/>
            <a:ext cx="4038600" cy="5126055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b="1" dirty="0"/>
              <a:t>Framing: </a:t>
            </a:r>
            <a:r>
              <a:rPr lang="en-US" dirty="0"/>
              <a:t>Framing is a function of the data link layer. </a:t>
            </a:r>
            <a:r>
              <a:rPr lang="en-US" b="1" dirty="0">
                <a:solidFill>
                  <a:srgbClr val="00B0F0"/>
                </a:solidFill>
              </a:rPr>
              <a:t>It provides a way for a sender to transmit a set of bits that are meaningful to the receiver</a:t>
            </a:r>
            <a:r>
              <a:rPr lang="en-US" dirty="0"/>
              <a:t>. This can be accomplished by attaching special bit patterns to the beginning and end of the frame.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Physical Addressing:</a:t>
            </a:r>
            <a:r>
              <a:rPr lang="en-US" dirty="0"/>
              <a:t> After creating frames, </a:t>
            </a:r>
            <a:r>
              <a:rPr lang="en-US" dirty="0">
                <a:solidFill>
                  <a:srgbClr val="00B0F0"/>
                </a:solidFill>
              </a:rPr>
              <a:t>the Data link layer adds physical addresses (</a:t>
            </a:r>
            <a:r>
              <a:rPr lang="en-US" b="1" dirty="0">
                <a:solidFill>
                  <a:srgbClr val="00B0F0"/>
                </a:solidFill>
              </a:rPr>
              <a:t>MAC addresses</a:t>
            </a:r>
            <a:r>
              <a:rPr lang="en-US" dirty="0">
                <a:solidFill>
                  <a:srgbClr val="00B0F0"/>
                </a:solidFill>
              </a:rPr>
              <a:t>) of the sender and/or receiver in the header</a:t>
            </a:r>
            <a:r>
              <a:rPr lang="en-US" dirty="0"/>
              <a:t> of each frame.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5263" y="2357430"/>
            <a:ext cx="4668737" cy="2305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fontAlgn="base"/>
            <a:r>
              <a:rPr lang="en-US" b="1" dirty="0"/>
              <a:t>Flow Control:</a:t>
            </a:r>
            <a:r>
              <a:rPr lang="en-US" dirty="0"/>
              <a:t> The </a:t>
            </a:r>
            <a:r>
              <a:rPr lang="en-US" b="1" dirty="0">
                <a:solidFill>
                  <a:srgbClr val="00B0F0"/>
                </a:solidFill>
              </a:rPr>
              <a:t>data rate must be constant on both sides </a:t>
            </a:r>
            <a:r>
              <a:rPr lang="en-US" dirty="0"/>
              <a:t>else the data may get corrupted thus, flow control coordinates the amount of data that can be sent before receiving an acknowledgment.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Error Control:</a:t>
            </a:r>
            <a:r>
              <a:rPr lang="en-US" dirty="0"/>
              <a:t> The data link layer provides the mechanism of error control in which </a:t>
            </a:r>
            <a:r>
              <a:rPr lang="en-US" b="1" dirty="0">
                <a:solidFill>
                  <a:srgbClr val="00B0F0"/>
                </a:solidFill>
              </a:rPr>
              <a:t>it detects and retransmits damaged or lost frames</a:t>
            </a:r>
            <a:r>
              <a:rPr lang="en-US" dirty="0"/>
              <a:t>.</a:t>
            </a:r>
          </a:p>
          <a:p>
            <a:pPr fontAlgn="base">
              <a:buNone/>
            </a:pPr>
            <a:endParaRPr lang="en-US" dirty="0"/>
          </a:p>
          <a:p>
            <a:pPr fontAlgn="base"/>
            <a:r>
              <a:rPr lang="en-US" b="1" dirty="0"/>
              <a:t>Access Control: </a:t>
            </a:r>
            <a:r>
              <a:rPr lang="en-US" dirty="0"/>
              <a:t>When a single communication channel is shared by multiple devices, the MAC sub-layer of the data link layer helps to determine which device has control over the channel at a given time.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5263" y="2357430"/>
            <a:ext cx="4668737" cy="2305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186502" cy="4525963"/>
          </a:xfrm>
        </p:spPr>
        <p:txBody>
          <a:bodyPr>
            <a:normAutofit/>
          </a:bodyPr>
          <a:lstStyle/>
          <a:p>
            <a:r>
              <a:rPr lang="en-US" dirty="0"/>
              <a:t>The network Layer is </a:t>
            </a:r>
            <a:r>
              <a:rPr lang="en-US" dirty="0">
                <a:solidFill>
                  <a:srgbClr val="FF0000"/>
                </a:solidFill>
              </a:rPr>
              <a:t>the third layer in the OSI model </a:t>
            </a:r>
            <a:r>
              <a:rPr lang="en-US" dirty="0"/>
              <a:t>of computer networks. </a:t>
            </a:r>
          </a:p>
          <a:p>
            <a:r>
              <a:rPr lang="en-US" dirty="0"/>
              <a:t>Its main function is to </a:t>
            </a:r>
            <a:r>
              <a:rPr lang="en-US" dirty="0">
                <a:solidFill>
                  <a:srgbClr val="FF0000"/>
                </a:solidFill>
              </a:rPr>
              <a:t>transfer network packets from the source to the destination</a:t>
            </a:r>
            <a:r>
              <a:rPr lang="en-US" dirty="0"/>
              <a:t>. </a:t>
            </a:r>
          </a:p>
          <a:p>
            <a:r>
              <a:rPr lang="en-US" dirty="0"/>
              <a:t>It involves both the source host and the destination host.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Network Layer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900882" cy="4525963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Packetizing</a:t>
            </a:r>
            <a:r>
              <a:rPr lang="en-US" dirty="0"/>
              <a:t> involves encapsulating data into packets suitable for transmission.</a:t>
            </a:r>
          </a:p>
          <a:p>
            <a:r>
              <a:rPr lang="en-US" b="1" u="sng" dirty="0"/>
              <a:t> </a:t>
            </a:r>
            <a:r>
              <a:rPr lang="en-US" b="1" u="sng" dirty="0">
                <a:solidFill>
                  <a:srgbClr val="FF0000"/>
                </a:solidFill>
              </a:rPr>
              <a:t>Routing</a:t>
            </a:r>
            <a:r>
              <a:rPr lang="en-US" b="1" u="sng" dirty="0"/>
              <a:t> </a:t>
            </a:r>
            <a:r>
              <a:rPr lang="en-US" dirty="0"/>
              <a:t>determines the optimal path for these packets through the network, ensuring they navigate through multiple nodes and networks efficiently. 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Forwarding</a:t>
            </a:r>
            <a:r>
              <a:rPr lang="en-US" dirty="0"/>
              <a:t> is the process of directing these packets to their next hop along the selected path.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6400816" cy="390050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transport layer, or </a:t>
            </a:r>
            <a:r>
              <a:rPr lang="en-US" b="1" dirty="0">
                <a:solidFill>
                  <a:srgbClr val="00B0F0"/>
                </a:solidFill>
              </a:rPr>
              <a:t>layer 4 of the OSI </a:t>
            </a:r>
            <a:r>
              <a:rPr lang="en-US" dirty="0"/>
              <a:t>model, </a:t>
            </a:r>
            <a:r>
              <a:rPr lang="en-US" b="1" dirty="0">
                <a:solidFill>
                  <a:srgbClr val="00B0F0"/>
                </a:solidFill>
              </a:rPr>
              <a:t>controls network traffic between hosts and end systems to guarantee full data flows</a:t>
            </a:r>
            <a:r>
              <a:rPr lang="en-US" dirty="0"/>
              <a:t>. </a:t>
            </a:r>
          </a:p>
          <a:p>
            <a:r>
              <a:rPr lang="en-US" dirty="0"/>
              <a:t>Data volume, destination, and rate are all controlled by transport-layer protocols including 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TCP</a:t>
            </a:r>
            <a:r>
              <a:rPr lang="en-US" b="1" dirty="0">
                <a:solidFill>
                  <a:srgbClr val="00B0F0"/>
                </a:solidFill>
              </a:rPr>
              <a:t>(transaction Control Protocol)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UDP</a:t>
            </a:r>
            <a:r>
              <a:rPr lang="en-US" b="1" dirty="0">
                <a:solidFill>
                  <a:srgbClr val="00B0F0"/>
                </a:solidFill>
              </a:rPr>
              <a:t>(User datagram Protocol) </a:t>
            </a:r>
            <a:r>
              <a:rPr lang="en-US" b="1" dirty="0">
                <a:solidFill>
                  <a:srgbClr val="00B050"/>
                </a:solidFill>
              </a:rPr>
              <a:t>DCCP</a:t>
            </a:r>
            <a:r>
              <a:rPr lang="en-US" b="1" dirty="0">
                <a:solidFill>
                  <a:srgbClr val="00B0F0"/>
                </a:solidFill>
              </a:rPr>
              <a:t>(</a:t>
            </a:r>
            <a:r>
              <a:rPr lang="en-US" dirty="0"/>
              <a:t>Datagram Congestion Control Protocol )</a:t>
            </a:r>
            <a:r>
              <a:rPr lang="en-US" b="1" dirty="0">
                <a:solidFill>
                  <a:srgbClr val="00B0F0"/>
                </a:solidFill>
              </a:rPr>
              <a:t> and 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SCTP</a:t>
            </a:r>
            <a:r>
              <a:rPr lang="en-US" b="1" dirty="0">
                <a:solidFill>
                  <a:srgbClr val="00B0F0"/>
                </a:solidFill>
              </a:rPr>
              <a:t>(</a:t>
            </a:r>
            <a:r>
              <a:rPr lang="en-US" b="1" dirty="0"/>
              <a:t>Stream Control Transmission Protocol </a:t>
            </a:r>
            <a:r>
              <a:rPr lang="en-US" b="1" dirty="0">
                <a:solidFill>
                  <a:srgbClr val="00B0F0"/>
                </a:solidFill>
              </a:rPr>
              <a:t>)</a:t>
            </a:r>
            <a:endParaRPr lang="en-US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Session Layer -</a:t>
            </a:r>
            <a:r>
              <a:rPr lang="en-US" b="1" dirty="0"/>
              <a:t> Layer 5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686568" cy="4525963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/>
              <a:t>This layer is responsible for the </a:t>
            </a:r>
            <a:r>
              <a:rPr lang="en-US" b="1" dirty="0">
                <a:solidFill>
                  <a:srgbClr val="C00000"/>
                </a:solidFill>
              </a:rPr>
              <a:t>establishment of connection, maintenance of sessions, and authentication</a:t>
            </a:r>
            <a:r>
              <a:rPr lang="en-US" dirty="0"/>
              <a:t>, and also ensures security.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Functions of the Session Layer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7758138" cy="4329130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b="1" dirty="0">
                <a:solidFill>
                  <a:srgbClr val="C00000"/>
                </a:solidFill>
              </a:rPr>
              <a:t>Session Establishment, Maintenance, and Termination: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The layer allows the two processes to establish, use, and terminate a connection.</a:t>
            </a:r>
          </a:p>
          <a:p>
            <a:pPr fontAlgn="base"/>
            <a:r>
              <a:rPr lang="en-US" b="1" dirty="0">
                <a:solidFill>
                  <a:srgbClr val="C00000"/>
                </a:solidFill>
              </a:rPr>
              <a:t>Synchronization: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This layer allows a process to add checkpoints that are considered synchronization points in the data. These synchronization points help to identify the error so that the data is re-synchronized properly, and ends of the messages are not cut prematurely and data loss is avoided.</a:t>
            </a:r>
          </a:p>
          <a:p>
            <a:pPr fontAlgn="base"/>
            <a:r>
              <a:rPr lang="en-US" b="1" dirty="0">
                <a:solidFill>
                  <a:srgbClr val="C00000"/>
                </a:solidFill>
              </a:rPr>
              <a:t>Dialog Controller:</a:t>
            </a:r>
            <a:r>
              <a:rPr lang="en-US" dirty="0"/>
              <a:t> The session layer allows two systems to start communication with each other in half-duplex or full-duplex.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Presentation Layer – Layer 6</a:t>
            </a:r>
            <a:br>
              <a:rPr lang="en-US" b="1" u="sng" dirty="0">
                <a:solidFill>
                  <a:srgbClr val="C00000"/>
                </a:solidFill>
              </a:rPr>
            </a:br>
            <a:endParaRPr lang="en-US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329114" cy="4525963"/>
          </a:xfrm>
        </p:spPr>
        <p:txBody>
          <a:bodyPr/>
          <a:lstStyle/>
          <a:p>
            <a:r>
              <a:rPr lang="en-US" dirty="0"/>
              <a:t>The presentation layer is also called the </a:t>
            </a:r>
            <a:r>
              <a:rPr lang="en-US" b="1" dirty="0"/>
              <a:t>Translation layer</a:t>
            </a:r>
            <a:r>
              <a:rPr lang="en-US" dirty="0"/>
              <a:t>.</a:t>
            </a:r>
          </a:p>
          <a:p>
            <a:r>
              <a:rPr lang="en-US" dirty="0"/>
              <a:t>The data from the application layer is extracted here and manipulated as per the required format to transmit over the network.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functions of the Presentation Layer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329510" cy="4525963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Translation:</a:t>
            </a:r>
            <a:r>
              <a:rPr lang="en-US" dirty="0"/>
              <a:t> For example, </a:t>
            </a:r>
            <a:r>
              <a:rPr lang="en-US" u="sng" dirty="0">
                <a:hlinkClick r:id="rId2"/>
              </a:rPr>
              <a:t>ASCII to EBCDIC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Encryption/ Decryption:</a:t>
            </a:r>
            <a:r>
              <a:rPr lang="en-US" dirty="0"/>
              <a:t> Data encryption translates the data into another form or code. The encrypted data is known as the cipher text and the decrypted data is known as plain text. A key value is used for encrypting as well as decrypting data.</a:t>
            </a:r>
          </a:p>
          <a:p>
            <a:pPr fontAlgn="base"/>
            <a:r>
              <a:rPr lang="en-US" b="1" dirty="0"/>
              <a:t>Compression:</a:t>
            </a:r>
            <a:r>
              <a:rPr lang="en-US" dirty="0"/>
              <a:t> Reduces the number of bits that need to be transmitted on the network.</a:t>
            </a:r>
          </a:p>
          <a:p>
            <a:pPr fontAlgn="base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EB11A6-6792-ABCF-99CC-1B256D17C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0649"/>
            <a:ext cx="7772400" cy="1080119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Application Layer – Layer 7</a:t>
            </a:r>
            <a:br>
              <a:rPr lang="en-US" b="1" u="sng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7A0ACA3-53C7-F378-BA1C-4800C8D0D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052735"/>
            <a:ext cx="8568952" cy="5544615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which is implemented by the network applications. 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applications produce the data to be transferred over the network. 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layer also serves as a window for the application services to access the network and for displaying the received information to the user. 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Protocols used in the Application layer are </a:t>
            </a:r>
            <a:r>
              <a:rPr lang="en-U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SMTP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FTP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 etc.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FD1ABF8F-3D18-7004-3050-A347901EF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5293133"/>
            <a:ext cx="5178152" cy="129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516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326F3-03A2-FBC5-28D2-F7FDC08F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AFFAC-D9F6-6C38-9BC5-520B15043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0649"/>
            <a:ext cx="7772400" cy="1080119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Application Layer – Layer 7</a:t>
            </a:r>
            <a:br>
              <a:rPr lang="en-US" b="1" u="sng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4543742-AD4C-149F-B6A0-474BCA6A5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3"/>
            <a:ext cx="8568952" cy="5760638"/>
          </a:xfrm>
        </p:spPr>
        <p:txBody>
          <a:bodyPr>
            <a:noAutofit/>
          </a:bodyPr>
          <a:lstStyle/>
          <a:p>
            <a:pPr algn="l" fontAlgn="base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the Application Layer: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fontAlgn="base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 Terminal (NVT):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allows a user to log on to a remote host.</a:t>
            </a:r>
          </a:p>
          <a:p>
            <a:pPr marL="457200" indent="-457200" algn="l" fontAlgn="base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Transfer Access and Management (FTAM):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allows a user to access files in a remote host, retrieve files in a remote host, and manage or control files from a remote computer.</a:t>
            </a:r>
          </a:p>
          <a:p>
            <a:pPr marL="457200" indent="-457200" algn="l" fontAlgn="base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 Services: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email service.</a:t>
            </a:r>
          </a:p>
          <a:p>
            <a:pPr marL="457200" indent="-457200" algn="l" fontAlgn="base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Directory Services: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provides distributed database sources and access for global information about various objects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14622643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7F71-3F2D-AFBB-9B95-87DC12743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BD35E3-3055-D400-6E95-EB789B30F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0649"/>
            <a:ext cx="7772400" cy="10801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Disadvantages of OSI Model</a:t>
            </a:r>
            <a:br>
              <a:rPr lang="en-US" b="1" dirty="0"/>
            </a:br>
            <a:br>
              <a:rPr lang="en-US" b="1" u="sng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34C84AF-EBF1-BECB-A9B1-1BEB8F326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548680"/>
            <a:ext cx="8568952" cy="6192688"/>
          </a:xfrm>
        </p:spPr>
        <p:txBody>
          <a:bodyPr>
            <a:noAutofit/>
          </a:bodyPr>
          <a:lstStyle/>
          <a:p>
            <a:pPr marL="457200" indent="-457200" algn="l" fontAlgn="base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has seven layers, which can be complicated and hard to understand for beginners.</a:t>
            </a:r>
          </a:p>
          <a:p>
            <a:pPr marL="457200" indent="-457200" algn="l" fontAlgn="base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real-life networking, most systems use a simpler model called the Internet protocol suite (TCP/IP), so the OSI Model is not always directly applicable.</a:t>
            </a:r>
          </a:p>
          <a:p>
            <a:pPr marL="457200" indent="-457200" algn="l" fontAlgn="base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layer in the OSI Model adds its own set of rules and operations, which can make the process more time-consuming and less efficient.</a:t>
            </a:r>
          </a:p>
          <a:p>
            <a:pPr marL="457200" indent="-457200" algn="l" fontAlgn="base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is more of a theoretical framework, meaning it's great for understanding concepts but not always practical for implementation.</a:t>
            </a:r>
          </a:p>
          <a:p>
            <a:pPr algn="l" fontAlgn="base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378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SI-vs-TCP/IP">
            <a:extLst>
              <a:ext uri="{FF2B5EF4-FFF2-40B4-BE49-F238E27FC236}">
                <a16:creationId xmlns:a16="http://schemas.microsoft.com/office/drawing/2014/main" id="{AA201260-4726-2BCE-78EA-0F118F9A2D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14" y="260648"/>
            <a:ext cx="8741371" cy="557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33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2615</Words>
  <Application>Microsoft Office PowerPoint</Application>
  <PresentationFormat>On-screen Show (4:3)</PresentationFormat>
  <Paragraphs>226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Times New Roman</vt:lpstr>
      <vt:lpstr>Wingdings</vt:lpstr>
      <vt:lpstr>Office Theme</vt:lpstr>
      <vt:lpstr>Computer Network: Definition </vt:lpstr>
      <vt:lpstr>NEED OF NETWORKING: </vt:lpstr>
      <vt:lpstr>Elements of network:  </vt:lpstr>
      <vt:lpstr>Advantages and Disadvantages</vt:lpstr>
      <vt:lpstr>Types of Networks</vt:lpstr>
      <vt:lpstr>Bus Topology</vt:lpstr>
      <vt:lpstr>PowerPoint Presentation</vt:lpstr>
      <vt:lpstr>Advantages  &amp; Disadvantages of Bus Topology</vt:lpstr>
      <vt:lpstr>Ring Topology </vt:lpstr>
      <vt:lpstr>Advantages &amp; Disadvantages of     Ring Topology </vt:lpstr>
      <vt:lpstr>Star Topology</vt:lpstr>
      <vt:lpstr>Advantages &amp; Disadvantage of       Star Topology</vt:lpstr>
      <vt:lpstr>Mesh Topology </vt:lpstr>
      <vt:lpstr>Advantages &amp; Disadvantages of Mesh Topology</vt:lpstr>
      <vt:lpstr>Tree Topology</vt:lpstr>
      <vt:lpstr>Advantages &amp; Disadvantages of Tree Topology</vt:lpstr>
      <vt:lpstr> Classification of the Networks    Based on area  </vt:lpstr>
      <vt:lpstr>Local Area Network (LAN) </vt:lpstr>
      <vt:lpstr>MAN (Metropolitan Area Network) </vt:lpstr>
      <vt:lpstr>Wide Area Network (WAN) </vt:lpstr>
      <vt:lpstr>Advantages and Disadvantages of LAN,MAN,WAN</vt:lpstr>
      <vt:lpstr>Evolution of Internet</vt:lpstr>
      <vt:lpstr>Internet  </vt:lpstr>
      <vt:lpstr>OSI Reference Model</vt:lpstr>
      <vt:lpstr>PowerPoint Presentation</vt:lpstr>
      <vt:lpstr>Data Flow in OSI Model </vt:lpstr>
      <vt:lpstr>Physical layer </vt:lpstr>
      <vt:lpstr>Functions of a Physical layer: </vt:lpstr>
      <vt:lpstr>Data-Link Layer </vt:lpstr>
      <vt:lpstr>PowerPoint Presentation</vt:lpstr>
      <vt:lpstr>PowerPoint Presentation</vt:lpstr>
      <vt:lpstr>Logical Link Control (LLC) </vt:lpstr>
      <vt:lpstr>Medium access control (MAC) sub layer </vt:lpstr>
      <vt:lpstr>Functions of the Data Link Layer </vt:lpstr>
      <vt:lpstr>PowerPoint Presentation</vt:lpstr>
      <vt:lpstr>Network Layer</vt:lpstr>
      <vt:lpstr>Network Layer services</vt:lpstr>
      <vt:lpstr>Transport Layer</vt:lpstr>
      <vt:lpstr>Session Layer - Layer 5  </vt:lpstr>
      <vt:lpstr>Functions of the Session Layer </vt:lpstr>
      <vt:lpstr>Presentation Layer – Layer 6 </vt:lpstr>
      <vt:lpstr>functions of the Presentation Layer </vt:lpstr>
      <vt:lpstr>Application Layer – Layer 7 </vt:lpstr>
      <vt:lpstr>Application Layer – Layer 7 </vt:lpstr>
      <vt:lpstr>Disadvantages of OSI Model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Network: Definition</dc:title>
  <dc:creator>Aditya</dc:creator>
  <cp:lastModifiedBy>appalakonda9676@outlook.com</cp:lastModifiedBy>
  <cp:revision>27</cp:revision>
  <dcterms:created xsi:type="dcterms:W3CDTF">2024-07-31T04:27:22Z</dcterms:created>
  <dcterms:modified xsi:type="dcterms:W3CDTF">2025-07-17T07:58:36Z</dcterms:modified>
</cp:coreProperties>
</file>