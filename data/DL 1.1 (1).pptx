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73" r:id="rId5"/>
    <p:sldId id="274" r:id="rId6"/>
    <p:sldId id="275" r:id="rId7"/>
    <p:sldId id="271" r:id="rId8"/>
    <p:sldId id="276" r:id="rId9"/>
    <p:sldId id="277" r:id="rId10"/>
    <p:sldId id="278" r:id="rId11"/>
    <p:sldId id="279" r:id="rId12"/>
    <p:sldId id="285"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FF8A64D-2F9C-41CC-88FA-E4E069F6A9A7}" type="datetimeFigureOut">
              <a:rPr lang="en-US" smtClean="0"/>
              <a:pPr/>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AE4144-46D5-4AE1-B479-8DC4081AA55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F8A64D-2F9C-41CC-88FA-E4E069F6A9A7}" type="datetimeFigureOut">
              <a:rPr lang="en-US" smtClean="0"/>
              <a:pPr/>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AE4144-46D5-4AE1-B479-8DC4081AA55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FF8A64D-2F9C-41CC-88FA-E4E069F6A9A7}" type="datetimeFigureOut">
              <a:rPr lang="en-US" smtClean="0"/>
              <a:pPr/>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AE4144-46D5-4AE1-B479-8DC4081AA55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FF8A64D-2F9C-41CC-88FA-E4E069F6A9A7}" type="datetimeFigureOut">
              <a:rPr lang="en-US" smtClean="0"/>
              <a:pPr/>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AE4144-46D5-4AE1-B479-8DC4081AA55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FF8A64D-2F9C-41CC-88FA-E4E069F6A9A7}" type="datetimeFigureOut">
              <a:rPr lang="en-US" smtClean="0"/>
              <a:pPr/>
              <a:t>7/16/2025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AE4144-46D5-4AE1-B479-8DC4081AA55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FF8A64D-2F9C-41CC-88FA-E4E069F6A9A7}" type="datetimeFigureOut">
              <a:rPr lang="en-US" smtClean="0"/>
              <a:pPr/>
              <a:t>7/16/2025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AE4144-46D5-4AE1-B479-8DC4081AA55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F8A64D-2F9C-41CC-88FA-E4E069F6A9A7}" type="datetimeFigureOut">
              <a:rPr lang="en-US" smtClean="0"/>
              <a:pPr/>
              <a:t>7/16/2025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AE4144-46D5-4AE1-B479-8DC4081AA55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F8A64D-2F9C-41CC-88FA-E4E069F6A9A7}" type="datetimeFigureOut">
              <a:rPr lang="en-US" smtClean="0"/>
              <a:pPr/>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AE4144-46D5-4AE1-B479-8DC4081AA55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F8A64D-2F9C-41CC-88FA-E4E069F6A9A7}" type="datetimeFigureOut">
              <a:rPr lang="en-US" smtClean="0"/>
              <a:pPr/>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AE4144-46D5-4AE1-B479-8DC4081AA55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F8A64D-2F9C-41CC-88FA-E4E069F6A9A7}" type="datetimeFigureOut">
              <a:rPr lang="en-US" smtClean="0"/>
              <a:pPr/>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AE4144-46D5-4AE1-B479-8DC4081AA55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F8A64D-2F9C-41CC-88FA-E4E069F6A9A7}" type="datetimeFigureOut">
              <a:rPr lang="en-US" smtClean="0"/>
              <a:pPr/>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AE4144-46D5-4AE1-B479-8DC4081AA55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F8A64D-2F9C-41CC-88FA-E4E069F6A9A7}" type="datetimeFigureOut">
              <a:rPr lang="en-US" smtClean="0"/>
              <a:pPr/>
              <a:t>7/16/2025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AE4144-46D5-4AE1-B479-8DC4081AA55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000" dirty="0" smtClean="0">
                <a:solidFill>
                  <a:srgbClr val="C00000"/>
                </a:solidFill>
                <a:effectLst>
                  <a:outerShdw blurRad="38100" dist="38100" dir="2700000" algn="tl">
                    <a:srgbClr val="000000">
                      <a:alpha val="43137"/>
                    </a:srgbClr>
                  </a:outerShdw>
                </a:effectLst>
              </a:rPr>
              <a:t>Deep Learning</a:t>
            </a:r>
            <a:endParaRPr lang="en-US" sz="5000"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3886200"/>
            <a:ext cx="6486548" cy="2400320"/>
          </a:xfrm>
        </p:spPr>
        <p:txBody>
          <a:bodyPr>
            <a:normAutofit fontScale="85000" lnSpcReduction="20000"/>
          </a:bodyPr>
          <a:lstStyle/>
          <a:p>
            <a:pPr lvl="0">
              <a:lnSpc>
                <a:spcPct val="70000"/>
              </a:lnSpc>
              <a:spcBef>
                <a:spcPts val="0"/>
              </a:spcBef>
              <a:buClr>
                <a:schemeClr val="dk1"/>
              </a:buClr>
              <a:buSzPts val="2220"/>
            </a:pPr>
            <a:r>
              <a:rPr lang="en-US" dirty="0" smtClean="0">
                <a:solidFill>
                  <a:schemeClr val="tx1"/>
                </a:solidFill>
              </a:rPr>
              <a:t>By</a:t>
            </a:r>
            <a:r>
              <a:rPr lang="en-US" dirty="0" smtClean="0"/>
              <a:t> </a:t>
            </a:r>
          </a:p>
          <a:p>
            <a:pPr lvl="0">
              <a:lnSpc>
                <a:spcPct val="70000"/>
              </a:lnSpc>
              <a:spcBef>
                <a:spcPts val="600"/>
              </a:spcBef>
              <a:buClr>
                <a:schemeClr val="dk1"/>
              </a:buClr>
              <a:buSzPts val="1017"/>
            </a:pPr>
            <a:endParaRPr lang="en-US" sz="1200" dirty="0" smtClean="0"/>
          </a:p>
          <a:p>
            <a:pPr lvl="0">
              <a:lnSpc>
                <a:spcPct val="70000"/>
              </a:lnSpc>
              <a:spcBef>
                <a:spcPts val="600"/>
              </a:spcBef>
              <a:buClr>
                <a:srgbClr val="660066"/>
              </a:buClr>
              <a:buSzPts val="2960"/>
            </a:pPr>
            <a:r>
              <a:rPr lang="en-US" sz="3900" b="1" dirty="0" smtClean="0">
                <a:solidFill>
                  <a:srgbClr val="0000FF"/>
                </a:solidFill>
              </a:rPr>
              <a:t>V. Raviteja,</a:t>
            </a:r>
          </a:p>
          <a:p>
            <a:pPr lvl="0">
              <a:lnSpc>
                <a:spcPct val="70000"/>
              </a:lnSpc>
              <a:spcBef>
                <a:spcPts val="1000"/>
              </a:spcBef>
              <a:buClr>
                <a:schemeClr val="dk1"/>
              </a:buClr>
              <a:buSzPts val="2220"/>
            </a:pPr>
            <a:r>
              <a:rPr lang="en-US" dirty="0" smtClean="0">
                <a:solidFill>
                  <a:schemeClr val="tx1"/>
                </a:solidFill>
              </a:rPr>
              <a:t>Assistant Professor, </a:t>
            </a:r>
          </a:p>
          <a:p>
            <a:pPr lvl="0">
              <a:lnSpc>
                <a:spcPct val="70000"/>
              </a:lnSpc>
              <a:spcBef>
                <a:spcPts val="1000"/>
              </a:spcBef>
              <a:buClr>
                <a:schemeClr val="dk1"/>
              </a:buClr>
              <a:buSzPts val="2220"/>
            </a:pPr>
            <a:r>
              <a:rPr lang="en-US" dirty="0" smtClean="0">
                <a:solidFill>
                  <a:schemeClr val="tx1"/>
                </a:solidFill>
              </a:rPr>
              <a:t>Dept. of Artificial Intelligence and Machine Learning</a:t>
            </a:r>
          </a:p>
          <a:p>
            <a:pPr lvl="0">
              <a:lnSpc>
                <a:spcPct val="70000"/>
              </a:lnSpc>
              <a:spcBef>
                <a:spcPts val="1000"/>
              </a:spcBef>
              <a:buClr>
                <a:schemeClr val="dk1"/>
              </a:buClr>
              <a:buSzPts val="2220"/>
            </a:pPr>
            <a:r>
              <a:rPr lang="en-US" dirty="0" smtClean="0">
                <a:solidFill>
                  <a:schemeClr val="tx1"/>
                </a:solidFill>
              </a:rPr>
              <a:t>Aditya Engineering College(A)</a:t>
            </a:r>
          </a:p>
          <a:p>
            <a:pPr lvl="0">
              <a:lnSpc>
                <a:spcPct val="70000"/>
              </a:lnSpc>
              <a:spcBef>
                <a:spcPts val="1000"/>
              </a:spcBef>
              <a:buClr>
                <a:schemeClr val="dk1"/>
              </a:buClr>
              <a:buSzPts val="2220"/>
            </a:pPr>
            <a:r>
              <a:rPr lang="en-US" dirty="0" smtClean="0">
                <a:solidFill>
                  <a:schemeClr val="tx1"/>
                </a:solidFill>
              </a:rPr>
              <a:t>Surampalem.</a:t>
            </a:r>
          </a:p>
          <a:p>
            <a:endParaRPr lang="en-US" dirty="0"/>
          </a:p>
        </p:txBody>
      </p:sp>
      <p:pic>
        <p:nvPicPr>
          <p:cNvPr id="4" name="Picture 3">
            <a:extLst>
              <a:ext uri="{FF2B5EF4-FFF2-40B4-BE49-F238E27FC236}">
                <a16:creationId xmlns:a16="http://schemas.microsoft.com/office/drawing/2014/main" id="{3FADB3F6-3651-B4BF-8E50-A644E0AE3A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908" y="-214338"/>
            <a:ext cx="3224159" cy="1524016"/>
          </a:xfrm>
          <a:prstGeom prst="rect">
            <a:avLst/>
          </a:prstGeom>
        </p:spPr>
      </p:pic>
      <p:sp>
        <p:nvSpPr>
          <p:cNvPr id="5" name="TextBox 4"/>
          <p:cNvSpPr txBox="1"/>
          <p:nvPr/>
        </p:nvSpPr>
        <p:spPr>
          <a:xfrm>
            <a:off x="8001024" y="357166"/>
            <a:ext cx="857256" cy="400110"/>
          </a:xfrm>
          <a:prstGeom prst="rect">
            <a:avLst/>
          </a:prstGeom>
          <a:noFill/>
        </p:spPr>
        <p:txBody>
          <a:bodyPr wrap="square" rtlCol="0">
            <a:spAutoFit/>
          </a:bodyPr>
          <a:lstStyle/>
          <a:p>
            <a:r>
              <a:rPr lang="en-US" sz="2000" dirty="0" smtClean="0">
                <a:solidFill>
                  <a:srgbClr val="0000FF"/>
                </a:solidFill>
                <a:latin typeface="Times New Roman" pitchFamily="18" charset="0"/>
                <a:cs typeface="Times New Roman" pitchFamily="18" charset="0"/>
              </a:rPr>
              <a:t>AIML</a:t>
            </a:r>
            <a:endParaRPr lang="en-US" sz="2000" dirty="0">
              <a:solidFill>
                <a:srgbClr val="0000FF"/>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endParaRPr lang="en-US" dirty="0"/>
          </a:p>
        </p:txBody>
      </p:sp>
      <p:pic>
        <p:nvPicPr>
          <p:cNvPr id="7" name="Picture 6">
            <a:extLst>
              <a:ext uri="{FF2B5EF4-FFF2-40B4-BE49-F238E27FC236}">
                <a16:creationId xmlns:a16="http://schemas.microsoft.com/office/drawing/2014/main" id="{3FADB3F6-3651-B4BF-8E50-A644E0AE3A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000264" cy="1214446"/>
          </a:xfrm>
          <a:prstGeom prst="rect">
            <a:avLst/>
          </a:prstGeom>
        </p:spPr>
      </p:pic>
      <p:sp>
        <p:nvSpPr>
          <p:cNvPr id="8" name="Rectangle 7"/>
          <p:cNvSpPr/>
          <p:nvPr/>
        </p:nvSpPr>
        <p:spPr>
          <a:xfrm>
            <a:off x="8001024" y="285728"/>
            <a:ext cx="774571" cy="369332"/>
          </a:xfrm>
          <a:prstGeom prst="rect">
            <a:avLst/>
          </a:prstGeom>
        </p:spPr>
        <p:txBody>
          <a:bodyPr wrap="none">
            <a:spAutoFit/>
          </a:bodyPr>
          <a:lstStyle/>
          <a:p>
            <a:r>
              <a:rPr lang="en-US" dirty="0" smtClean="0">
                <a:solidFill>
                  <a:srgbClr val="0000FF"/>
                </a:solidFill>
                <a:latin typeface="Times New Roman" pitchFamily="18" charset="0"/>
                <a:cs typeface="Times New Roman" pitchFamily="18" charset="0"/>
              </a:rPr>
              <a:t>AIML</a:t>
            </a:r>
            <a:endParaRPr lang="en-US" dirty="0">
              <a:solidFill>
                <a:srgbClr val="0000FF"/>
              </a:solidFill>
              <a:latin typeface="Times New Roman" pitchFamily="18" charset="0"/>
              <a:cs typeface="Times New Roman" pitchFamily="18" charset="0"/>
            </a:endParaRPr>
          </a:p>
        </p:txBody>
      </p:sp>
      <p:sp>
        <p:nvSpPr>
          <p:cNvPr id="4" name="Rectangle 1"/>
          <p:cNvSpPr>
            <a:spLocks noGrp="1" noChangeArrowheads="1"/>
          </p:cNvSpPr>
          <p:nvPr>
            <p:ph idx="1"/>
          </p:nvPr>
        </p:nvSpPr>
        <p:spPr bwMode="auto">
          <a:xfrm>
            <a:off x="491689" y="1111384"/>
            <a:ext cx="859885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rPr>
              <a:t>Traditional Machine Learning (ML) struggles with:</a:t>
            </a:r>
          </a:p>
          <a:p>
            <a:pPr lvl="1" eaLnBrk="0" fontAlgn="base" hangingPunct="0">
              <a:spcBef>
                <a:spcPct val="0"/>
              </a:spcBef>
              <a:spcAft>
                <a:spcPct val="0"/>
              </a:spcAft>
              <a:buFont typeface="Wingdings" panose="05000000000000000000" pitchFamily="2" charset="2"/>
              <a:buChar char="Ø"/>
            </a:pPr>
            <a:r>
              <a:rPr kumimoji="0" lang="en-US" altLang="en-US" sz="1800" b="0" i="0" u="none" strike="noStrike" cap="none" normalizeH="0" baseline="0" dirty="0" smtClean="0">
                <a:ln>
                  <a:noFill/>
                </a:ln>
                <a:solidFill>
                  <a:schemeClr val="tx1"/>
                </a:solidFill>
                <a:effectLst/>
                <a:latin typeface="Arial" panose="020B0604020202020204" pitchFamily="34" charset="0"/>
              </a:rPr>
              <a:t>Large-scale unstructured data (e.g., images, videos, audio)</a:t>
            </a:r>
          </a:p>
          <a:p>
            <a:pPr lvl="1" eaLnBrk="0" fontAlgn="base" hangingPunct="0">
              <a:spcBef>
                <a:spcPct val="0"/>
              </a:spcBef>
              <a:spcAft>
                <a:spcPct val="0"/>
              </a:spcAft>
              <a:buFont typeface="Wingdings" panose="05000000000000000000" pitchFamily="2" charset="2"/>
              <a:buChar char="Ø"/>
            </a:pPr>
            <a:r>
              <a:rPr kumimoji="0" lang="en-US" altLang="en-US" sz="1800" b="0" i="0" u="none" strike="noStrike" cap="none" normalizeH="0" baseline="0" dirty="0" smtClean="0">
                <a:ln>
                  <a:noFill/>
                </a:ln>
                <a:solidFill>
                  <a:schemeClr val="tx1"/>
                </a:solidFill>
                <a:effectLst/>
                <a:latin typeface="Arial" panose="020B0604020202020204" pitchFamily="34" charset="0"/>
              </a:rPr>
              <a:t>Feature extraction complexity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rPr>
              <a:t>Increasing data availability and computing power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rPr>
              <a:t>Complex tasks like image recognition, NLP, and speech require deeper models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rPr>
              <a:t>Deep learning automates feature extraction and improves accuracy</a:t>
            </a:r>
          </a:p>
        </p:txBody>
      </p:sp>
      <p:sp>
        <p:nvSpPr>
          <p:cNvPr id="9" name="Title 1"/>
          <p:cNvSpPr txBox="1">
            <a:spLocks/>
          </p:cNvSpPr>
          <p:nvPr/>
        </p:nvSpPr>
        <p:spPr>
          <a:xfrm>
            <a:off x="1656791" y="126855"/>
            <a:ext cx="5830416" cy="96073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500" dirty="0" smtClean="0">
                <a:solidFill>
                  <a:srgbClr val="0000FF"/>
                </a:solidFill>
                <a:effectLst>
                  <a:outerShdw blurRad="38100" dist="38100" dir="2700000" algn="tl">
                    <a:srgbClr val="000000">
                      <a:alpha val="43137"/>
                    </a:srgbClr>
                  </a:outerShdw>
                </a:effectLst>
              </a:rPr>
              <a:t>Need for Deep Learning</a:t>
            </a:r>
            <a:endParaRPr lang="en-US" sz="3500" dirty="0">
              <a:solidFill>
                <a:srgbClr val="0000FF"/>
              </a:solidFill>
              <a:effectLst>
                <a:outerShdw blurRad="38100" dist="38100" dir="2700000" algn="tl">
                  <a:srgbClr val="000000">
                    <a:alpha val="43137"/>
                  </a:srgbClr>
                </a:outerShdw>
              </a:effectLst>
            </a:endParaRPr>
          </a:p>
        </p:txBody>
      </p:sp>
      <p:pic>
        <p:nvPicPr>
          <p:cNvPr id="1027" name="Picture 3" descr="fig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8804" y="3789040"/>
            <a:ext cx="6524625" cy="28717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endParaRPr lang="en-US" dirty="0"/>
          </a:p>
        </p:txBody>
      </p:sp>
      <p:pic>
        <p:nvPicPr>
          <p:cNvPr id="7" name="Picture 6">
            <a:extLst>
              <a:ext uri="{FF2B5EF4-FFF2-40B4-BE49-F238E27FC236}">
                <a16:creationId xmlns:a16="http://schemas.microsoft.com/office/drawing/2014/main" id="{3FADB3F6-3651-B4BF-8E50-A644E0AE3A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000264" cy="1214446"/>
          </a:xfrm>
          <a:prstGeom prst="rect">
            <a:avLst/>
          </a:prstGeom>
        </p:spPr>
      </p:pic>
      <p:sp>
        <p:nvSpPr>
          <p:cNvPr id="8" name="Rectangle 7"/>
          <p:cNvSpPr/>
          <p:nvPr/>
        </p:nvSpPr>
        <p:spPr>
          <a:xfrm>
            <a:off x="8001024" y="285728"/>
            <a:ext cx="774571" cy="369332"/>
          </a:xfrm>
          <a:prstGeom prst="rect">
            <a:avLst/>
          </a:prstGeom>
        </p:spPr>
        <p:txBody>
          <a:bodyPr wrap="none">
            <a:spAutoFit/>
          </a:bodyPr>
          <a:lstStyle/>
          <a:p>
            <a:r>
              <a:rPr lang="en-US" dirty="0" smtClean="0">
                <a:solidFill>
                  <a:srgbClr val="0000FF"/>
                </a:solidFill>
                <a:latin typeface="Times New Roman" pitchFamily="18" charset="0"/>
                <a:cs typeface="Times New Roman" pitchFamily="18" charset="0"/>
              </a:rPr>
              <a:t>AIML</a:t>
            </a:r>
            <a:endParaRPr lang="en-US" dirty="0">
              <a:solidFill>
                <a:srgbClr val="0000FF"/>
              </a:solidFill>
              <a:latin typeface="Times New Roman" pitchFamily="18" charset="0"/>
              <a:cs typeface="Times New Roman" pitchFamily="18" charset="0"/>
            </a:endParaRPr>
          </a:p>
        </p:txBody>
      </p:sp>
      <p:sp>
        <p:nvSpPr>
          <p:cNvPr id="9" name="Title 1"/>
          <p:cNvSpPr txBox="1">
            <a:spLocks/>
          </p:cNvSpPr>
          <p:nvPr/>
        </p:nvSpPr>
        <p:spPr>
          <a:xfrm>
            <a:off x="1837928" y="44624"/>
            <a:ext cx="5830416" cy="96073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500" dirty="0" smtClean="0">
                <a:solidFill>
                  <a:srgbClr val="0000FF"/>
                </a:solidFill>
                <a:effectLst>
                  <a:outerShdw blurRad="38100" dist="38100" dir="2700000" algn="tl">
                    <a:srgbClr val="000000">
                      <a:alpha val="43137"/>
                    </a:srgbClr>
                  </a:outerShdw>
                </a:effectLst>
              </a:rPr>
              <a:t>Applications of Deep Learning</a:t>
            </a:r>
            <a:endParaRPr lang="en-US" sz="3500" dirty="0">
              <a:solidFill>
                <a:srgbClr val="0000FF"/>
              </a:solidFill>
              <a:effectLst>
                <a:outerShdw blurRad="38100" dist="38100" dir="2700000" algn="tl">
                  <a:srgbClr val="000000">
                    <a:alpha val="43137"/>
                  </a:srgbClr>
                </a:outerShdw>
              </a:effectLst>
            </a:endParaRPr>
          </a:p>
        </p:txBody>
      </p:sp>
      <p:sp>
        <p:nvSpPr>
          <p:cNvPr id="20" name="Rectangle 12"/>
          <p:cNvSpPr>
            <a:spLocks noGrp="1" noChangeArrowheads="1"/>
          </p:cNvSpPr>
          <p:nvPr>
            <p:ph idx="1"/>
          </p:nvPr>
        </p:nvSpPr>
        <p:spPr bwMode="auto">
          <a:xfrm>
            <a:off x="457200" y="1330661"/>
            <a:ext cx="555496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smtClean="0">
                <a:ln>
                  <a:noFill/>
                </a:ln>
                <a:solidFill>
                  <a:schemeClr val="tx1"/>
                </a:solidFill>
                <a:effectLst/>
                <a:latin typeface="Arial" panose="020B0604020202020204" pitchFamily="34" charset="0"/>
              </a:rPr>
              <a:t>Computer Vision</a:t>
            </a:r>
            <a:r>
              <a:rPr kumimoji="0" lang="en-US" altLang="en-US" sz="2200" b="0" i="0" u="none" strike="noStrike" cap="none" normalizeH="0" baseline="0" dirty="0" smtClean="0">
                <a:ln>
                  <a:noFill/>
                </a:ln>
                <a:solidFill>
                  <a:schemeClr val="tx1"/>
                </a:solidFill>
                <a:effectLst/>
                <a:latin typeface="Arial" panose="020B0604020202020204" pitchFamily="34" charset="0"/>
              </a:rPr>
              <a:t>: Face recognition, Object detection, Medical imaging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smtClean="0">
                <a:ln>
                  <a:noFill/>
                </a:ln>
                <a:solidFill>
                  <a:schemeClr val="tx1"/>
                </a:solidFill>
                <a:effectLst/>
                <a:latin typeface="Arial" panose="020B0604020202020204" pitchFamily="34" charset="0"/>
              </a:rPr>
              <a:t>Natural Language Processing</a:t>
            </a:r>
            <a:r>
              <a:rPr kumimoji="0" lang="en-US" altLang="en-US" sz="2200" b="0" i="0" u="none" strike="noStrike" cap="none" normalizeH="0" baseline="0" dirty="0" smtClean="0">
                <a:ln>
                  <a:noFill/>
                </a:ln>
                <a:solidFill>
                  <a:schemeClr val="tx1"/>
                </a:solidFill>
                <a:effectLst/>
                <a:latin typeface="Arial" panose="020B0604020202020204" pitchFamily="34" charset="0"/>
              </a:rPr>
              <a:t>: </a:t>
            </a:r>
            <a:r>
              <a:rPr kumimoji="0" lang="en-US" altLang="en-US" sz="2200" b="0" i="0" u="none" strike="noStrike" cap="none" normalizeH="0" baseline="0" dirty="0" err="1" smtClean="0">
                <a:ln>
                  <a:noFill/>
                </a:ln>
                <a:solidFill>
                  <a:schemeClr val="tx1"/>
                </a:solidFill>
                <a:effectLst/>
                <a:latin typeface="Arial" panose="020B0604020202020204" pitchFamily="34" charset="0"/>
              </a:rPr>
              <a:t>Chatbots</a:t>
            </a:r>
            <a:r>
              <a:rPr kumimoji="0" lang="en-US" altLang="en-US" sz="2200" b="0" i="0" u="none" strike="noStrike" cap="none" normalizeH="0" baseline="0" dirty="0" smtClean="0">
                <a:ln>
                  <a:noFill/>
                </a:ln>
                <a:solidFill>
                  <a:schemeClr val="tx1"/>
                </a:solidFill>
                <a:effectLst/>
                <a:latin typeface="Arial" panose="020B0604020202020204" pitchFamily="34" charset="0"/>
              </a:rPr>
              <a:t>, Machine translation, Sentiment analysis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smtClean="0">
                <a:ln>
                  <a:noFill/>
                </a:ln>
                <a:solidFill>
                  <a:schemeClr val="tx1"/>
                </a:solidFill>
                <a:effectLst/>
                <a:latin typeface="Arial" panose="020B0604020202020204" pitchFamily="34" charset="0"/>
              </a:rPr>
              <a:t>Speech Processing</a:t>
            </a:r>
            <a:r>
              <a:rPr kumimoji="0" lang="en-US" altLang="en-US" sz="2200" b="0" i="0" u="none" strike="noStrike" cap="none" normalizeH="0" baseline="0" dirty="0" smtClean="0">
                <a:ln>
                  <a:noFill/>
                </a:ln>
                <a:solidFill>
                  <a:schemeClr val="tx1"/>
                </a:solidFill>
                <a:effectLst/>
                <a:latin typeface="Arial" panose="020B0604020202020204" pitchFamily="34" charset="0"/>
              </a:rPr>
              <a:t>: Speech-to-text, Voice assistants (Siri, Alexa)</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smtClean="0">
                <a:ln>
                  <a:noFill/>
                </a:ln>
                <a:solidFill>
                  <a:schemeClr val="tx1"/>
                </a:solidFill>
                <a:effectLst/>
                <a:latin typeface="Arial" panose="020B0604020202020204" pitchFamily="34" charset="0"/>
              </a:rPr>
              <a:t>Autonomous Systems</a:t>
            </a:r>
            <a:r>
              <a:rPr kumimoji="0" lang="en-US" altLang="en-US" sz="2200" b="0" i="0" u="none" strike="noStrike" cap="none" normalizeH="0" baseline="0" dirty="0" smtClean="0">
                <a:ln>
                  <a:noFill/>
                </a:ln>
                <a:solidFill>
                  <a:schemeClr val="tx1"/>
                </a:solidFill>
                <a:effectLst/>
                <a:latin typeface="Arial" panose="020B0604020202020204" pitchFamily="34" charset="0"/>
              </a:rPr>
              <a:t>: Self-driving cars, Drones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smtClean="0">
                <a:ln>
                  <a:noFill/>
                </a:ln>
                <a:solidFill>
                  <a:schemeClr val="tx1"/>
                </a:solidFill>
                <a:effectLst/>
                <a:latin typeface="Arial" panose="020B0604020202020204" pitchFamily="34" charset="0"/>
              </a:rPr>
              <a:t>Healthcare</a:t>
            </a:r>
            <a:r>
              <a:rPr kumimoji="0" lang="en-US" altLang="en-US" sz="2200" b="0" i="0" u="none" strike="noStrike" cap="none" normalizeH="0" baseline="0" dirty="0" smtClean="0">
                <a:ln>
                  <a:noFill/>
                </a:ln>
                <a:solidFill>
                  <a:schemeClr val="tx1"/>
                </a:solidFill>
                <a:effectLst/>
                <a:latin typeface="Arial" panose="020B0604020202020204" pitchFamily="34" charset="0"/>
              </a:rPr>
              <a:t>: Disease prediction, Drug discovery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smtClean="0">
                <a:ln>
                  <a:noFill/>
                </a:ln>
                <a:solidFill>
                  <a:schemeClr val="tx1"/>
                </a:solidFill>
                <a:effectLst/>
                <a:latin typeface="Arial" panose="020B0604020202020204" pitchFamily="34" charset="0"/>
              </a:rPr>
              <a:t>Finance</a:t>
            </a:r>
            <a:r>
              <a:rPr kumimoji="0" lang="en-US" altLang="en-US" sz="2200" b="0" i="0" u="none" strike="noStrike" cap="none" normalizeH="0" baseline="0" dirty="0" smtClean="0">
                <a:ln>
                  <a:noFill/>
                </a:ln>
                <a:solidFill>
                  <a:schemeClr val="tx1"/>
                </a:solidFill>
                <a:effectLst/>
                <a:latin typeface="Arial" panose="020B0604020202020204" pitchFamily="34" charset="0"/>
              </a:rPr>
              <a:t>: Fraud detection, Stock prediction</a:t>
            </a:r>
          </a:p>
        </p:txBody>
      </p:sp>
      <p:pic>
        <p:nvPicPr>
          <p:cNvPr id="21" name="Picture 20"/>
          <p:cNvPicPr>
            <a:picLocks noChangeAspect="1"/>
          </p:cNvPicPr>
          <p:nvPr/>
        </p:nvPicPr>
        <p:blipFill rotWithShape="1">
          <a:blip r:embed="rId3"/>
          <a:srcRect l="17184" r="17900" b="7394"/>
          <a:stretch/>
        </p:blipFill>
        <p:spPr>
          <a:xfrm>
            <a:off x="5651101" y="2106315"/>
            <a:ext cx="3385396" cy="3266901"/>
          </a:xfrm>
          <a:prstGeom prst="rect">
            <a:avLst/>
          </a:prstGeom>
        </p:spPr>
      </p:pic>
    </p:spTree>
    <p:extLst>
      <p:ext uri="{BB962C8B-B14F-4D97-AF65-F5344CB8AC3E}">
        <p14:creationId xmlns:p14="http://schemas.microsoft.com/office/powerpoint/2010/main" val="10917600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endParaRPr lang="en-US" dirty="0"/>
          </a:p>
        </p:txBody>
      </p:sp>
      <p:pic>
        <p:nvPicPr>
          <p:cNvPr id="7" name="Picture 6">
            <a:extLst>
              <a:ext uri="{FF2B5EF4-FFF2-40B4-BE49-F238E27FC236}">
                <a16:creationId xmlns:a16="http://schemas.microsoft.com/office/drawing/2014/main" id="{3FADB3F6-3651-B4BF-8E50-A644E0AE3A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000264" cy="1214446"/>
          </a:xfrm>
          <a:prstGeom prst="rect">
            <a:avLst/>
          </a:prstGeom>
        </p:spPr>
      </p:pic>
      <p:sp>
        <p:nvSpPr>
          <p:cNvPr id="8" name="Rectangle 7"/>
          <p:cNvSpPr/>
          <p:nvPr/>
        </p:nvSpPr>
        <p:spPr>
          <a:xfrm>
            <a:off x="8001024" y="285728"/>
            <a:ext cx="774571" cy="369332"/>
          </a:xfrm>
          <a:prstGeom prst="rect">
            <a:avLst/>
          </a:prstGeom>
        </p:spPr>
        <p:txBody>
          <a:bodyPr wrap="none">
            <a:spAutoFit/>
          </a:bodyPr>
          <a:lstStyle/>
          <a:p>
            <a:r>
              <a:rPr lang="en-US" dirty="0" smtClean="0">
                <a:solidFill>
                  <a:srgbClr val="0000FF"/>
                </a:solidFill>
                <a:latin typeface="Times New Roman" pitchFamily="18" charset="0"/>
                <a:cs typeface="Times New Roman" pitchFamily="18" charset="0"/>
              </a:rPr>
              <a:t>AIML</a:t>
            </a:r>
            <a:endParaRPr lang="en-US" dirty="0">
              <a:solidFill>
                <a:srgbClr val="0000FF"/>
              </a:solidFill>
              <a:latin typeface="Times New Roman" pitchFamily="18" charset="0"/>
              <a:cs typeface="Times New Roman" pitchFamily="18" charset="0"/>
            </a:endParaRPr>
          </a:p>
        </p:txBody>
      </p:sp>
      <p:sp>
        <p:nvSpPr>
          <p:cNvPr id="9" name="Title 1"/>
          <p:cNvSpPr txBox="1">
            <a:spLocks/>
          </p:cNvSpPr>
          <p:nvPr/>
        </p:nvSpPr>
        <p:spPr>
          <a:xfrm>
            <a:off x="1837928" y="44624"/>
            <a:ext cx="5830416" cy="96073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500" dirty="0" smtClean="0">
                <a:solidFill>
                  <a:srgbClr val="0000FF"/>
                </a:solidFill>
                <a:effectLst>
                  <a:outerShdw blurRad="38100" dist="38100" dir="2700000" algn="tl">
                    <a:srgbClr val="000000">
                      <a:alpha val="43137"/>
                    </a:srgbClr>
                  </a:outerShdw>
                </a:effectLst>
              </a:rPr>
              <a:t>Motivation for Deep Learning</a:t>
            </a:r>
            <a:endParaRPr lang="en-US" sz="3500" dirty="0">
              <a:solidFill>
                <a:srgbClr val="0000FF"/>
              </a:solidFill>
              <a:effectLst>
                <a:outerShdw blurRad="38100" dist="38100" dir="2700000" algn="tl">
                  <a:srgbClr val="000000">
                    <a:alpha val="43137"/>
                  </a:srgbClr>
                </a:outerShdw>
              </a:effectLst>
            </a:endParaRPr>
          </a:p>
        </p:txBody>
      </p:sp>
      <p:pic>
        <p:nvPicPr>
          <p:cNvPr id="3074" name="Picture 2" descr="https://b2633864.smushcdn.com/2633864/wp-content/uploads/2021/04/human_anatomy_neuron.png?size=700x348&amp;lossy=2&amp;strip=1&amp;webp=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69" y="3892416"/>
            <a:ext cx="4700341" cy="233674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noChangeArrowheads="1"/>
          </p:cNvSpPr>
          <p:nvPr>
            <p:ph idx="1"/>
          </p:nvPr>
        </p:nvSpPr>
        <p:spPr bwMode="auto">
          <a:xfrm>
            <a:off x="457200" y="1147816"/>
            <a:ext cx="8221929"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Inspired by the human brain’s ability to learn from data</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Improved results in real-world tasks compared to classical ML</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Scalability: Works well with Big Data and GPUs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End-to-end learning: from raw input to desired output</a:t>
            </a:r>
          </a:p>
          <a:p>
            <a:pPr lvl="0" eaLnBrk="0" fontAlgn="base" hangingPunct="0">
              <a:spcBef>
                <a:spcPct val="0"/>
              </a:spcBef>
              <a:spcAft>
                <a:spcPct val="0"/>
              </a:spcAft>
              <a:buFont typeface="Wingdings" panose="05000000000000000000" pitchFamily="2" charset="2"/>
              <a:buChar char="Ø"/>
            </a:pPr>
            <a:r>
              <a:rPr lang="en-US" sz="2200" dirty="0">
                <a:latin typeface="Arial" panose="020B0604020202020204" pitchFamily="34" charset="0"/>
                <a:cs typeface="Arial" panose="020B0604020202020204" pitchFamily="34" charset="0"/>
              </a:rPr>
              <a:t>Success stories: Google Translate, </a:t>
            </a:r>
            <a:r>
              <a:rPr lang="en-US" sz="2200" dirty="0" err="1">
                <a:latin typeface="Arial" panose="020B0604020202020204" pitchFamily="34" charset="0"/>
                <a:cs typeface="Arial" panose="020B0604020202020204" pitchFamily="34" charset="0"/>
              </a:rPr>
              <a:t>AlphaGo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ChatGPT</a:t>
            </a:r>
            <a:r>
              <a:rPr lang="en-US" sz="2200" dirty="0">
                <a:latin typeface="Arial" panose="020B0604020202020204" pitchFamily="34" charset="0"/>
                <a:cs typeface="Arial" panose="020B0604020202020204" pitchFamily="34" charset="0"/>
              </a:rPr>
              <a:t>, Self-driving cars</a:t>
            </a:r>
            <a:endParaRPr kumimoji="0" lang="en-US" altLang="en-US" sz="22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4445" t="17780" r="6657" b="9126"/>
          <a:stretch/>
        </p:blipFill>
        <p:spPr>
          <a:xfrm>
            <a:off x="4547547" y="3475487"/>
            <a:ext cx="4522443" cy="2788841"/>
          </a:xfrm>
          <a:prstGeom prst="rect">
            <a:avLst/>
          </a:prstGeom>
        </p:spPr>
      </p:pic>
    </p:spTree>
    <p:extLst>
      <p:ext uri="{BB962C8B-B14F-4D97-AF65-F5344CB8AC3E}">
        <p14:creationId xmlns:p14="http://schemas.microsoft.com/office/powerpoint/2010/main" val="37816835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endParaRPr lang="en-US" dirty="0"/>
          </a:p>
        </p:txBody>
      </p:sp>
      <p:pic>
        <p:nvPicPr>
          <p:cNvPr id="7" name="Picture 6">
            <a:extLst>
              <a:ext uri="{FF2B5EF4-FFF2-40B4-BE49-F238E27FC236}">
                <a16:creationId xmlns:a16="http://schemas.microsoft.com/office/drawing/2014/main" id="{3FADB3F6-3651-B4BF-8E50-A644E0AE3A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000264" cy="1214446"/>
          </a:xfrm>
          <a:prstGeom prst="rect">
            <a:avLst/>
          </a:prstGeom>
        </p:spPr>
      </p:pic>
      <p:sp>
        <p:nvSpPr>
          <p:cNvPr id="8" name="Rectangle 7"/>
          <p:cNvSpPr/>
          <p:nvPr/>
        </p:nvSpPr>
        <p:spPr>
          <a:xfrm>
            <a:off x="8001024" y="285728"/>
            <a:ext cx="774571" cy="369332"/>
          </a:xfrm>
          <a:prstGeom prst="rect">
            <a:avLst/>
          </a:prstGeom>
        </p:spPr>
        <p:txBody>
          <a:bodyPr wrap="none">
            <a:spAutoFit/>
          </a:bodyPr>
          <a:lstStyle/>
          <a:p>
            <a:r>
              <a:rPr lang="en-US" dirty="0" smtClean="0">
                <a:solidFill>
                  <a:srgbClr val="0000FF"/>
                </a:solidFill>
                <a:latin typeface="Times New Roman" pitchFamily="18" charset="0"/>
                <a:cs typeface="Times New Roman" pitchFamily="18" charset="0"/>
              </a:rPr>
              <a:t>AIML</a:t>
            </a:r>
            <a:endParaRPr lang="en-US" dirty="0">
              <a:solidFill>
                <a:srgbClr val="0000FF"/>
              </a:solidFill>
              <a:latin typeface="Times New Roman" pitchFamily="18" charset="0"/>
              <a:cs typeface="Times New Roman" pitchFamily="18" charset="0"/>
            </a:endParaRPr>
          </a:p>
        </p:txBody>
      </p:sp>
      <p:sp>
        <p:nvSpPr>
          <p:cNvPr id="9" name="Title 1"/>
          <p:cNvSpPr txBox="1">
            <a:spLocks/>
          </p:cNvSpPr>
          <p:nvPr/>
        </p:nvSpPr>
        <p:spPr>
          <a:xfrm>
            <a:off x="1837928" y="44624"/>
            <a:ext cx="5830416" cy="96073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500" dirty="0" smtClean="0">
                <a:solidFill>
                  <a:srgbClr val="0000FF"/>
                </a:solidFill>
                <a:effectLst>
                  <a:outerShdw blurRad="38100" dist="38100" dir="2700000" algn="tl">
                    <a:srgbClr val="000000">
                      <a:alpha val="43137"/>
                    </a:srgbClr>
                  </a:outerShdw>
                </a:effectLst>
              </a:rPr>
              <a:t>Computational Units</a:t>
            </a:r>
            <a:endParaRPr lang="en-US" sz="3500" dirty="0">
              <a:solidFill>
                <a:srgbClr val="0000FF"/>
              </a:solidFill>
              <a:effectLst>
                <a:outerShdw blurRad="38100" dist="38100" dir="2700000" algn="tl">
                  <a:srgbClr val="000000">
                    <a:alpha val="43137"/>
                  </a:srgbClr>
                </a:outerShdw>
              </a:effectLst>
            </a:endParaRPr>
          </a:p>
        </p:txBody>
      </p:sp>
      <p:pic>
        <p:nvPicPr>
          <p:cNvPr id="4098" name="Picture 2" descr="Deep Learning 101: Introduction [Pros, Cons &amp; Uses]"/>
          <p:cNvPicPr>
            <a:picLocks noChangeAspect="1" noChangeArrowheads="1"/>
          </p:cNvPicPr>
          <p:nvPr/>
        </p:nvPicPr>
        <p:blipFill rotWithShape="1">
          <a:blip r:embed="rId3">
            <a:extLst>
              <a:ext uri="{28A0092B-C50C-407E-A947-70E740481C1C}">
                <a14:useLocalDpi xmlns:a14="http://schemas.microsoft.com/office/drawing/2010/main" val="0"/>
              </a:ext>
            </a:extLst>
          </a:blip>
          <a:srcRect l="5591" t="25755" r="4996" b="16915"/>
          <a:stretch/>
        </p:blipFill>
        <p:spPr bwMode="auto">
          <a:xfrm>
            <a:off x="1593598" y="4270701"/>
            <a:ext cx="5956804" cy="2587299"/>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noChangeArrowheads="1"/>
          </p:cNvSpPr>
          <p:nvPr>
            <p:ph idx="1"/>
          </p:nvPr>
        </p:nvSpPr>
        <p:spPr bwMode="auto">
          <a:xfrm>
            <a:off x="323528" y="1174409"/>
            <a:ext cx="8452067"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rPr>
              <a:t>Artificial neurons simulate biological neurons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rPr>
              <a:t>Takes multiple inputs → performs weighted sum → applies an activation function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rPr>
              <a:t>Key Components:</a:t>
            </a:r>
          </a:p>
          <a:p>
            <a:pPr lvl="1"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smtClean="0">
                <a:ln>
                  <a:noFill/>
                </a:ln>
                <a:solidFill>
                  <a:schemeClr val="tx1"/>
                </a:solidFill>
                <a:effectLst/>
                <a:latin typeface="Arial" panose="020B0604020202020204" pitchFamily="34" charset="0"/>
              </a:rPr>
              <a:t>Inputs</a:t>
            </a:r>
            <a:r>
              <a:rPr kumimoji="0" lang="en-US" altLang="en-US" sz="1800" b="0" i="0" u="none" strike="noStrike" cap="none" normalizeH="0" baseline="0" dirty="0" smtClean="0">
                <a:ln>
                  <a:noFill/>
                </a:ln>
                <a:solidFill>
                  <a:schemeClr val="tx1"/>
                </a:solidFill>
                <a:effectLst/>
                <a:latin typeface="Arial" panose="020B0604020202020204" pitchFamily="34" charset="0"/>
              </a:rPr>
              <a:t> (x₁, x₂, ... xₙ)</a:t>
            </a:r>
          </a:p>
          <a:p>
            <a:pPr lvl="1"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smtClean="0">
                <a:ln>
                  <a:noFill/>
                </a:ln>
                <a:solidFill>
                  <a:schemeClr val="tx1"/>
                </a:solidFill>
                <a:effectLst/>
                <a:latin typeface="Arial" panose="020B0604020202020204" pitchFamily="34" charset="0"/>
              </a:rPr>
              <a:t>Weights</a:t>
            </a:r>
            <a:r>
              <a:rPr kumimoji="0" lang="en-US" altLang="en-US" sz="1800" b="0" i="0" u="none" strike="noStrike" cap="none" normalizeH="0" baseline="0" dirty="0" smtClean="0">
                <a:ln>
                  <a:noFill/>
                </a:ln>
                <a:solidFill>
                  <a:schemeClr val="tx1"/>
                </a:solidFill>
                <a:effectLst/>
                <a:latin typeface="Arial" panose="020B0604020202020204" pitchFamily="34" charset="0"/>
              </a:rPr>
              <a:t> (w₁, w₂, ... wₙ)</a:t>
            </a:r>
          </a:p>
          <a:p>
            <a:pPr lvl="1"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smtClean="0">
                <a:ln>
                  <a:noFill/>
                </a:ln>
                <a:solidFill>
                  <a:schemeClr val="tx1"/>
                </a:solidFill>
                <a:effectLst/>
                <a:latin typeface="Arial" panose="020B0604020202020204" pitchFamily="34" charset="0"/>
              </a:rPr>
              <a:t>Bias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lvl="1" eaLnBrk="0" fontAlgn="base" hangingPunct="0">
              <a:spcBef>
                <a:spcPct val="0"/>
              </a:spcBef>
              <a:spcAft>
                <a:spcPct val="0"/>
              </a:spcAft>
              <a:buFont typeface="Wingdings" panose="05000000000000000000" pitchFamily="2" charset="2"/>
              <a:buChar char="Ø"/>
            </a:pPr>
            <a:r>
              <a:rPr kumimoji="0" lang="en-US" altLang="en-US" sz="1800" b="1" i="0" u="none" strike="noStrike" cap="none" normalizeH="0" baseline="0" dirty="0" smtClean="0">
                <a:ln>
                  <a:noFill/>
                </a:ln>
                <a:solidFill>
                  <a:schemeClr val="tx1"/>
                </a:solidFill>
                <a:effectLst/>
                <a:latin typeface="Arial" panose="020B0604020202020204" pitchFamily="34" charset="0"/>
              </a:rPr>
              <a:t>Activation Function</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smtClean="0">
                <a:ln>
                  <a:noFill/>
                </a:ln>
                <a:solidFill>
                  <a:schemeClr val="tx1"/>
                </a:solidFill>
                <a:effectLst/>
                <a:latin typeface="Arial" panose="020B0604020202020204" pitchFamily="34" charset="0"/>
              </a:rPr>
              <a:t>Output = Activation(sum of weighted inputs + bias)</a:t>
            </a:r>
          </a:p>
        </p:txBody>
      </p:sp>
    </p:spTree>
    <p:extLst>
      <p:ext uri="{BB962C8B-B14F-4D97-AF65-F5344CB8AC3E}">
        <p14:creationId xmlns:p14="http://schemas.microsoft.com/office/powerpoint/2010/main" val="10307981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endParaRPr lang="en-US" dirty="0"/>
          </a:p>
        </p:txBody>
      </p:sp>
      <p:pic>
        <p:nvPicPr>
          <p:cNvPr id="7" name="Picture 6">
            <a:extLst>
              <a:ext uri="{FF2B5EF4-FFF2-40B4-BE49-F238E27FC236}">
                <a16:creationId xmlns:a16="http://schemas.microsoft.com/office/drawing/2014/main" id="{3FADB3F6-3651-B4BF-8E50-A644E0AE3A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000264" cy="1214446"/>
          </a:xfrm>
          <a:prstGeom prst="rect">
            <a:avLst/>
          </a:prstGeom>
        </p:spPr>
      </p:pic>
      <p:sp>
        <p:nvSpPr>
          <p:cNvPr id="8" name="Rectangle 7"/>
          <p:cNvSpPr/>
          <p:nvPr/>
        </p:nvSpPr>
        <p:spPr>
          <a:xfrm>
            <a:off x="8001024" y="285728"/>
            <a:ext cx="774571" cy="369332"/>
          </a:xfrm>
          <a:prstGeom prst="rect">
            <a:avLst/>
          </a:prstGeom>
        </p:spPr>
        <p:txBody>
          <a:bodyPr wrap="none">
            <a:spAutoFit/>
          </a:bodyPr>
          <a:lstStyle/>
          <a:p>
            <a:r>
              <a:rPr lang="en-US" dirty="0" smtClean="0">
                <a:solidFill>
                  <a:srgbClr val="0000FF"/>
                </a:solidFill>
                <a:latin typeface="Times New Roman" pitchFamily="18" charset="0"/>
                <a:cs typeface="Times New Roman" pitchFamily="18" charset="0"/>
              </a:rPr>
              <a:t>AIML</a:t>
            </a:r>
            <a:endParaRPr lang="en-US" dirty="0">
              <a:solidFill>
                <a:srgbClr val="0000FF"/>
              </a:solidFill>
              <a:latin typeface="Times New Roman" pitchFamily="18" charset="0"/>
              <a:cs typeface="Times New Roman" pitchFamily="18" charset="0"/>
            </a:endParaRPr>
          </a:p>
        </p:txBody>
      </p:sp>
      <p:sp>
        <p:nvSpPr>
          <p:cNvPr id="9" name="Title 1"/>
          <p:cNvSpPr txBox="1">
            <a:spLocks/>
          </p:cNvSpPr>
          <p:nvPr/>
        </p:nvSpPr>
        <p:spPr>
          <a:xfrm>
            <a:off x="1837928" y="44624"/>
            <a:ext cx="5830416" cy="96073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500" dirty="0" smtClean="0">
                <a:solidFill>
                  <a:srgbClr val="0000FF"/>
                </a:solidFill>
                <a:effectLst>
                  <a:outerShdw blurRad="38100" dist="38100" dir="2700000" algn="tl">
                    <a:srgbClr val="000000">
                      <a:alpha val="43137"/>
                    </a:srgbClr>
                  </a:outerShdw>
                </a:effectLst>
              </a:rPr>
              <a:t>McCulloch – Pits Model</a:t>
            </a:r>
            <a:endParaRPr lang="en-US" sz="3500" dirty="0">
              <a:solidFill>
                <a:srgbClr val="0000FF"/>
              </a:solidFill>
              <a:effectLst>
                <a:outerShdw blurRad="38100" dist="38100" dir="2700000" algn="tl">
                  <a:srgbClr val="000000">
                    <a:alpha val="43137"/>
                  </a:srgbClr>
                </a:outerShdw>
              </a:effectLst>
            </a:endParaRPr>
          </a:p>
        </p:txBody>
      </p:sp>
      <p:pic>
        <p:nvPicPr>
          <p:cNvPr id="5122" name="Picture 2" descr="McCulloch-Pitts Neuron — Mankind's First Mathematical Model Of 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9275" y="2636912"/>
            <a:ext cx="3514725" cy="2733676"/>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p:cNvPicPr>
            <a:picLocks noGrp="1" noChangeAspect="1"/>
          </p:cNvPicPr>
          <p:nvPr>
            <p:ph idx="1"/>
          </p:nvPr>
        </p:nvPicPr>
        <p:blipFill rotWithShape="1">
          <a:blip r:embed="rId4">
            <a:extLst>
              <a:ext uri="{28A0092B-C50C-407E-A947-70E740481C1C}">
                <a14:useLocalDpi xmlns:a14="http://schemas.microsoft.com/office/drawing/2010/main" val="0"/>
              </a:ext>
            </a:extLst>
          </a:blip>
          <a:srcRect r="3189"/>
          <a:stretch/>
        </p:blipFill>
        <p:spPr>
          <a:xfrm>
            <a:off x="119662" y="1274234"/>
            <a:ext cx="5604466" cy="5251110"/>
          </a:xfrm>
        </p:spPr>
      </p:pic>
    </p:spTree>
    <p:extLst>
      <p:ext uri="{BB962C8B-B14F-4D97-AF65-F5344CB8AC3E}">
        <p14:creationId xmlns:p14="http://schemas.microsoft.com/office/powerpoint/2010/main" val="38388382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r>
            <a:br>
              <a:rPr lang="en-US" b="1" dirty="0"/>
            </a:br>
            <a:endParaRPr lang="en-US" dirty="0"/>
          </a:p>
        </p:txBody>
      </p:sp>
      <p:sp>
        <p:nvSpPr>
          <p:cNvPr id="3" name="Content Placeholder 2"/>
          <p:cNvSpPr>
            <a:spLocks noGrp="1"/>
          </p:cNvSpPr>
          <p:nvPr>
            <p:ph idx="1"/>
          </p:nvPr>
        </p:nvSpPr>
        <p:spPr>
          <a:xfrm>
            <a:off x="457200" y="1135285"/>
            <a:ext cx="8229600" cy="4525963"/>
          </a:xfrm>
        </p:spPr>
        <p:txBody>
          <a:bodyPr>
            <a:normAutofit/>
          </a:bodyPr>
          <a:lstStyle/>
          <a:p>
            <a:r>
              <a:rPr lang="en-US" sz="2600" dirty="0" smtClean="0"/>
              <a:t>A Single McCulloch Pits neuron can be used to represent Boolean functions which are linearly separable.</a:t>
            </a:r>
            <a:endParaRPr lang="en-US" sz="2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824" y="2492896"/>
            <a:ext cx="3953427" cy="3982006"/>
          </a:xfrm>
          <a:prstGeom prst="rect">
            <a:avLst/>
          </a:prstGeom>
        </p:spPr>
      </p:pic>
      <p:pic>
        <p:nvPicPr>
          <p:cNvPr id="5" name="Picture 4">
            <a:extLst>
              <a:ext uri="{FF2B5EF4-FFF2-40B4-BE49-F238E27FC236}">
                <a16:creationId xmlns:a16="http://schemas.microsoft.com/office/drawing/2014/main" id="{3FADB3F6-3651-B4BF-8E50-A644E0AE3A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000264" cy="1214446"/>
          </a:xfrm>
          <a:prstGeom prst="rect">
            <a:avLst/>
          </a:prstGeom>
        </p:spPr>
      </p:pic>
      <p:sp>
        <p:nvSpPr>
          <p:cNvPr id="6" name="Rectangle 5"/>
          <p:cNvSpPr/>
          <p:nvPr/>
        </p:nvSpPr>
        <p:spPr>
          <a:xfrm>
            <a:off x="8001024" y="285728"/>
            <a:ext cx="774571" cy="369332"/>
          </a:xfrm>
          <a:prstGeom prst="rect">
            <a:avLst/>
          </a:prstGeom>
        </p:spPr>
        <p:txBody>
          <a:bodyPr wrap="none">
            <a:spAutoFit/>
          </a:bodyPr>
          <a:lstStyle/>
          <a:p>
            <a:r>
              <a:rPr lang="en-US" dirty="0" smtClean="0">
                <a:solidFill>
                  <a:srgbClr val="0000FF"/>
                </a:solidFill>
                <a:latin typeface="Times New Roman" pitchFamily="18" charset="0"/>
                <a:cs typeface="Times New Roman" pitchFamily="18" charset="0"/>
              </a:rPr>
              <a:t>AIML</a:t>
            </a:r>
            <a:endParaRPr lang="en-US" dirty="0">
              <a:solidFill>
                <a:srgbClr val="0000FF"/>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Difference between M-P Neuron and Linear </a:t>
            </a:r>
            <a:r>
              <a:rPr lang="en-US" dirty="0" smtClean="0"/>
              <a:t>Perceptron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75650885"/>
              </p:ext>
            </p:extLst>
          </p:nvPr>
        </p:nvGraphicFramePr>
        <p:xfrm>
          <a:off x="457200" y="1714341"/>
          <a:ext cx="8229600" cy="4754880"/>
        </p:xfrm>
        <a:graphic>
          <a:graphicData uri="http://schemas.openxmlformats.org/drawingml/2006/table">
            <a:tbl>
              <a:tblPr>
                <a:tableStyleId>{35758FB7-9AC5-4552-8A53-C91805E547FA}</a:tableStyleId>
              </a:tblPr>
              <a:tblGrid>
                <a:gridCol w="2743200">
                  <a:extLst>
                    <a:ext uri="{9D8B030D-6E8A-4147-A177-3AD203B41FA5}">
                      <a16:colId xmlns:a16="http://schemas.microsoft.com/office/drawing/2014/main" val="1533511941"/>
                    </a:ext>
                  </a:extLst>
                </a:gridCol>
                <a:gridCol w="2743200">
                  <a:extLst>
                    <a:ext uri="{9D8B030D-6E8A-4147-A177-3AD203B41FA5}">
                      <a16:colId xmlns:a16="http://schemas.microsoft.com/office/drawing/2014/main" val="1729424003"/>
                    </a:ext>
                  </a:extLst>
                </a:gridCol>
                <a:gridCol w="2743200">
                  <a:extLst>
                    <a:ext uri="{9D8B030D-6E8A-4147-A177-3AD203B41FA5}">
                      <a16:colId xmlns:a16="http://schemas.microsoft.com/office/drawing/2014/main" val="1412670311"/>
                    </a:ext>
                  </a:extLst>
                </a:gridCol>
              </a:tblGrid>
              <a:tr h="0">
                <a:tc>
                  <a:txBody>
                    <a:bodyPr/>
                    <a:lstStyle/>
                    <a:p>
                      <a:r>
                        <a:rPr lang="en-US" sz="2400" b="1" dirty="0">
                          <a:effectLst>
                            <a:outerShdw blurRad="38100" dist="38100" dir="2700000" algn="tl">
                              <a:srgbClr val="000000">
                                <a:alpha val="43137"/>
                              </a:srgbClr>
                            </a:outerShdw>
                          </a:effectLst>
                        </a:rPr>
                        <a:t>Feature</a:t>
                      </a:r>
                    </a:p>
                  </a:txBody>
                  <a:tcPr anchor="ctr"/>
                </a:tc>
                <a:tc>
                  <a:txBody>
                    <a:bodyPr/>
                    <a:lstStyle/>
                    <a:p>
                      <a:r>
                        <a:rPr lang="en-US" sz="2400" b="1" dirty="0">
                          <a:effectLst>
                            <a:outerShdw blurRad="38100" dist="38100" dir="2700000" algn="tl">
                              <a:srgbClr val="000000">
                                <a:alpha val="43137"/>
                              </a:srgbClr>
                            </a:outerShdw>
                          </a:effectLst>
                        </a:rPr>
                        <a:t>McCulloch-Pitts Neuron</a:t>
                      </a:r>
                    </a:p>
                  </a:txBody>
                  <a:tcPr anchor="ctr"/>
                </a:tc>
                <a:tc>
                  <a:txBody>
                    <a:bodyPr/>
                    <a:lstStyle/>
                    <a:p>
                      <a:r>
                        <a:rPr lang="en-US" sz="2400" b="1" dirty="0">
                          <a:effectLst>
                            <a:outerShdw blurRad="38100" dist="38100" dir="2700000" algn="tl">
                              <a:srgbClr val="000000">
                                <a:alpha val="43137"/>
                              </a:srgbClr>
                            </a:outerShdw>
                          </a:effectLst>
                        </a:rPr>
                        <a:t>Linear Perceptron</a:t>
                      </a:r>
                    </a:p>
                  </a:txBody>
                  <a:tcPr anchor="ctr"/>
                </a:tc>
                <a:extLst>
                  <a:ext uri="{0D108BD9-81ED-4DB2-BD59-A6C34878D82A}">
                    <a16:rowId xmlns:a16="http://schemas.microsoft.com/office/drawing/2014/main" val="3752439688"/>
                  </a:ext>
                </a:extLst>
              </a:tr>
              <a:tr h="0">
                <a:tc>
                  <a:txBody>
                    <a:bodyPr/>
                    <a:lstStyle/>
                    <a:p>
                      <a:r>
                        <a:rPr lang="en-US" dirty="0"/>
                        <a:t>Inputs</a:t>
                      </a:r>
                    </a:p>
                  </a:txBody>
                  <a:tcPr anchor="ctr"/>
                </a:tc>
                <a:tc>
                  <a:txBody>
                    <a:bodyPr/>
                    <a:lstStyle/>
                    <a:p>
                      <a:r>
                        <a:rPr lang="en-US" dirty="0"/>
                        <a:t>Only binary (0 or 1)</a:t>
                      </a:r>
                    </a:p>
                  </a:txBody>
                  <a:tcPr anchor="ctr"/>
                </a:tc>
                <a:tc>
                  <a:txBody>
                    <a:bodyPr/>
                    <a:lstStyle/>
                    <a:p>
                      <a:r>
                        <a:rPr lang="en-US"/>
                        <a:t>Real or binary</a:t>
                      </a:r>
                    </a:p>
                  </a:txBody>
                  <a:tcPr anchor="ctr"/>
                </a:tc>
                <a:extLst>
                  <a:ext uri="{0D108BD9-81ED-4DB2-BD59-A6C34878D82A}">
                    <a16:rowId xmlns:a16="http://schemas.microsoft.com/office/drawing/2014/main" val="2902943419"/>
                  </a:ext>
                </a:extLst>
              </a:tr>
              <a:tr h="0">
                <a:tc>
                  <a:txBody>
                    <a:bodyPr/>
                    <a:lstStyle/>
                    <a:p>
                      <a:r>
                        <a:rPr lang="en-US"/>
                        <a:t>Weights</a:t>
                      </a:r>
                    </a:p>
                  </a:txBody>
                  <a:tcPr anchor="ctr"/>
                </a:tc>
                <a:tc>
                  <a:txBody>
                    <a:bodyPr/>
                    <a:lstStyle/>
                    <a:p>
                      <a:r>
                        <a:rPr lang="en-US"/>
                        <a:t>Fixed/manual</a:t>
                      </a:r>
                    </a:p>
                  </a:txBody>
                  <a:tcPr anchor="ctr"/>
                </a:tc>
                <a:tc>
                  <a:txBody>
                    <a:bodyPr/>
                    <a:lstStyle/>
                    <a:p>
                      <a:r>
                        <a:rPr lang="en-US"/>
                        <a:t>Learned through training</a:t>
                      </a:r>
                    </a:p>
                  </a:txBody>
                  <a:tcPr anchor="ctr"/>
                </a:tc>
                <a:extLst>
                  <a:ext uri="{0D108BD9-81ED-4DB2-BD59-A6C34878D82A}">
                    <a16:rowId xmlns:a16="http://schemas.microsoft.com/office/drawing/2014/main" val="2915578953"/>
                  </a:ext>
                </a:extLst>
              </a:tr>
              <a:tr h="0">
                <a:tc>
                  <a:txBody>
                    <a:bodyPr/>
                    <a:lstStyle/>
                    <a:p>
                      <a:r>
                        <a:rPr lang="en-US"/>
                        <a:t>Learning</a:t>
                      </a:r>
                    </a:p>
                  </a:txBody>
                  <a:tcPr anchor="ctr"/>
                </a:tc>
                <a:tc>
                  <a:txBody>
                    <a:bodyPr/>
                    <a:lstStyle/>
                    <a:p>
                      <a:r>
                        <a:rPr lang="en-US" dirty="0"/>
                        <a:t>No learning</a:t>
                      </a:r>
                    </a:p>
                  </a:txBody>
                  <a:tcPr anchor="ctr"/>
                </a:tc>
                <a:tc>
                  <a:txBody>
                    <a:bodyPr/>
                    <a:lstStyle/>
                    <a:p>
                      <a:r>
                        <a:rPr lang="en-US"/>
                        <a:t>Learns via perceptron learning rule</a:t>
                      </a:r>
                    </a:p>
                  </a:txBody>
                  <a:tcPr anchor="ctr"/>
                </a:tc>
                <a:extLst>
                  <a:ext uri="{0D108BD9-81ED-4DB2-BD59-A6C34878D82A}">
                    <a16:rowId xmlns:a16="http://schemas.microsoft.com/office/drawing/2014/main" val="2502387957"/>
                  </a:ext>
                </a:extLst>
              </a:tr>
              <a:tr h="0">
                <a:tc>
                  <a:txBody>
                    <a:bodyPr/>
                    <a:lstStyle/>
                    <a:p>
                      <a:r>
                        <a:rPr lang="en-US"/>
                        <a:t>Activation</a:t>
                      </a:r>
                    </a:p>
                  </a:txBody>
                  <a:tcPr anchor="ctr"/>
                </a:tc>
                <a:tc>
                  <a:txBody>
                    <a:bodyPr/>
                    <a:lstStyle/>
                    <a:p>
                      <a:r>
                        <a:rPr lang="en-US" dirty="0"/>
                        <a:t>Hard threshold function</a:t>
                      </a:r>
                    </a:p>
                  </a:txBody>
                  <a:tcPr anchor="ctr"/>
                </a:tc>
                <a:tc>
                  <a:txBody>
                    <a:bodyPr/>
                    <a:lstStyle/>
                    <a:p>
                      <a:r>
                        <a:rPr lang="en-US"/>
                        <a:t>Step or sign function</a:t>
                      </a:r>
                    </a:p>
                  </a:txBody>
                  <a:tcPr anchor="ctr"/>
                </a:tc>
                <a:extLst>
                  <a:ext uri="{0D108BD9-81ED-4DB2-BD59-A6C34878D82A}">
                    <a16:rowId xmlns:a16="http://schemas.microsoft.com/office/drawing/2014/main" val="4264102306"/>
                  </a:ext>
                </a:extLst>
              </a:tr>
              <a:tr h="0">
                <a:tc>
                  <a:txBody>
                    <a:bodyPr/>
                    <a:lstStyle/>
                    <a:p>
                      <a:r>
                        <a:rPr lang="en-US"/>
                        <a:t>Output</a:t>
                      </a:r>
                    </a:p>
                  </a:txBody>
                  <a:tcPr anchor="ctr"/>
                </a:tc>
                <a:tc>
                  <a:txBody>
                    <a:bodyPr/>
                    <a:lstStyle/>
                    <a:p>
                      <a:r>
                        <a:rPr lang="en-US" dirty="0"/>
                        <a:t>Binary (0 or 1)</a:t>
                      </a:r>
                    </a:p>
                  </a:txBody>
                  <a:tcPr anchor="ctr"/>
                </a:tc>
                <a:tc>
                  <a:txBody>
                    <a:bodyPr/>
                    <a:lstStyle/>
                    <a:p>
                      <a:r>
                        <a:rPr lang="en-US" dirty="0"/>
                        <a:t>Binary or real (based on activation)</a:t>
                      </a:r>
                    </a:p>
                  </a:txBody>
                  <a:tcPr anchor="ctr"/>
                </a:tc>
                <a:extLst>
                  <a:ext uri="{0D108BD9-81ED-4DB2-BD59-A6C34878D82A}">
                    <a16:rowId xmlns:a16="http://schemas.microsoft.com/office/drawing/2014/main" val="3165443894"/>
                  </a:ext>
                </a:extLst>
              </a:tr>
              <a:tr h="0">
                <a:tc>
                  <a:txBody>
                    <a:bodyPr/>
                    <a:lstStyle/>
                    <a:p>
                      <a:r>
                        <a:rPr lang="en-US"/>
                        <a:t>Use Cases</a:t>
                      </a:r>
                    </a:p>
                  </a:txBody>
                  <a:tcPr anchor="ctr"/>
                </a:tc>
                <a:tc>
                  <a:txBody>
                    <a:bodyPr/>
                    <a:lstStyle/>
                    <a:p>
                      <a:r>
                        <a:rPr lang="en-US"/>
                        <a:t>Only logical functions (e.g., AND, OR)</a:t>
                      </a:r>
                    </a:p>
                  </a:txBody>
                  <a:tcPr anchor="ctr"/>
                </a:tc>
                <a:tc>
                  <a:txBody>
                    <a:bodyPr/>
                    <a:lstStyle/>
                    <a:p>
                      <a:r>
                        <a:rPr lang="en-US" dirty="0"/>
                        <a:t>Linearly separable problems (e.g., classification)</a:t>
                      </a:r>
                    </a:p>
                  </a:txBody>
                  <a:tcPr anchor="ctr"/>
                </a:tc>
                <a:extLst>
                  <a:ext uri="{0D108BD9-81ED-4DB2-BD59-A6C34878D82A}">
                    <a16:rowId xmlns:a16="http://schemas.microsoft.com/office/drawing/2014/main" val="422029206"/>
                  </a:ext>
                </a:extLst>
              </a:tr>
              <a:tr h="0">
                <a:tc>
                  <a:txBody>
                    <a:bodyPr/>
                    <a:lstStyle/>
                    <a:p>
                      <a:r>
                        <a:rPr lang="en-US"/>
                        <a:t>Model Complexity</a:t>
                      </a:r>
                    </a:p>
                  </a:txBody>
                  <a:tcPr anchor="ctr"/>
                </a:tc>
                <a:tc>
                  <a:txBody>
                    <a:bodyPr/>
                    <a:lstStyle/>
                    <a:p>
                      <a:r>
                        <a:rPr lang="en-US"/>
                        <a:t>Very simple</a:t>
                      </a:r>
                    </a:p>
                  </a:txBody>
                  <a:tcPr anchor="ctr"/>
                </a:tc>
                <a:tc>
                  <a:txBody>
                    <a:bodyPr/>
                    <a:lstStyle/>
                    <a:p>
                      <a:r>
                        <a:rPr lang="en-US" dirty="0"/>
                        <a:t>More advanced with adjustable weights</a:t>
                      </a:r>
                    </a:p>
                  </a:txBody>
                  <a:tcPr anchor="ctr"/>
                </a:tc>
                <a:extLst>
                  <a:ext uri="{0D108BD9-81ED-4DB2-BD59-A6C34878D82A}">
                    <a16:rowId xmlns:a16="http://schemas.microsoft.com/office/drawing/2014/main" val="1493953117"/>
                  </a:ext>
                </a:extLst>
              </a:tr>
            </a:tbl>
          </a:graphicData>
        </a:graphic>
      </p:graphicFrame>
    </p:spTree>
    <p:extLst>
      <p:ext uri="{BB962C8B-B14F-4D97-AF65-F5344CB8AC3E}">
        <p14:creationId xmlns:p14="http://schemas.microsoft.com/office/powerpoint/2010/main" val="3984885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980727"/>
            <a:ext cx="6192688" cy="5813543"/>
          </a:xfrm>
          <a:prstGeom prst="rect">
            <a:avLst/>
          </a:prstGeom>
        </p:spPr>
      </p:pic>
      <p:sp>
        <p:nvSpPr>
          <p:cNvPr id="6" name="Title 1"/>
          <p:cNvSpPr txBox="1">
            <a:spLocks/>
          </p:cNvSpPr>
          <p:nvPr/>
        </p:nvSpPr>
        <p:spPr>
          <a:xfrm>
            <a:off x="1837928" y="44624"/>
            <a:ext cx="5830416" cy="96073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500" dirty="0" smtClean="0">
                <a:solidFill>
                  <a:srgbClr val="0000FF"/>
                </a:solidFill>
                <a:effectLst>
                  <a:outerShdw blurRad="38100" dist="38100" dir="2700000" algn="tl">
                    <a:srgbClr val="000000">
                      <a:alpha val="43137"/>
                    </a:srgbClr>
                  </a:outerShdw>
                </a:effectLst>
              </a:rPr>
              <a:t>Perceptron Learning Algorithm</a:t>
            </a:r>
            <a:endParaRPr lang="en-US" sz="3500" dirty="0">
              <a:solidFill>
                <a:srgbClr val="0000FF"/>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3FADB3F6-3651-B4BF-8E50-A644E0AE3A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000264" cy="1214446"/>
          </a:xfrm>
          <a:prstGeom prst="rect">
            <a:avLst/>
          </a:prstGeom>
        </p:spPr>
      </p:pic>
      <p:sp>
        <p:nvSpPr>
          <p:cNvPr id="8" name="Rectangle 7"/>
          <p:cNvSpPr/>
          <p:nvPr/>
        </p:nvSpPr>
        <p:spPr>
          <a:xfrm>
            <a:off x="8001024" y="285728"/>
            <a:ext cx="774571" cy="369332"/>
          </a:xfrm>
          <a:prstGeom prst="rect">
            <a:avLst/>
          </a:prstGeom>
        </p:spPr>
        <p:txBody>
          <a:bodyPr wrap="none">
            <a:spAutoFit/>
          </a:bodyPr>
          <a:lstStyle/>
          <a:p>
            <a:r>
              <a:rPr lang="en-US" dirty="0" smtClean="0">
                <a:solidFill>
                  <a:srgbClr val="0000FF"/>
                </a:solidFill>
                <a:latin typeface="Times New Roman" pitchFamily="18" charset="0"/>
                <a:cs typeface="Times New Roman" pitchFamily="18" charset="0"/>
              </a:rPr>
              <a:t>AIML</a:t>
            </a:r>
            <a:endParaRPr lang="en-US"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585663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739244" y="1025733"/>
            <a:ext cx="4369260" cy="5643627"/>
          </a:xfrm>
          <a:prstGeom prst="rect">
            <a:avLst/>
          </a:prstGeom>
        </p:spPr>
      </p:pic>
      <p:pic>
        <p:nvPicPr>
          <p:cNvPr id="5" name="Picture 4"/>
          <p:cNvPicPr>
            <a:picLocks noChangeAspect="1"/>
          </p:cNvPicPr>
          <p:nvPr/>
        </p:nvPicPr>
        <p:blipFill>
          <a:blip r:embed="rId3"/>
          <a:stretch>
            <a:fillRect/>
          </a:stretch>
        </p:blipFill>
        <p:spPr>
          <a:xfrm>
            <a:off x="179512" y="1052736"/>
            <a:ext cx="4392488" cy="5693966"/>
          </a:xfrm>
          <a:prstGeom prst="rect">
            <a:avLst/>
          </a:prstGeom>
        </p:spPr>
      </p:pic>
      <p:pic>
        <p:nvPicPr>
          <p:cNvPr id="6" name="Picture 5">
            <a:extLst>
              <a:ext uri="{FF2B5EF4-FFF2-40B4-BE49-F238E27FC236}">
                <a16:creationId xmlns:a16="http://schemas.microsoft.com/office/drawing/2014/main" id="{3FADB3F6-3651-B4BF-8E50-A644E0AE3A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000264" cy="1214446"/>
          </a:xfrm>
          <a:prstGeom prst="rect">
            <a:avLst/>
          </a:prstGeom>
        </p:spPr>
      </p:pic>
      <p:sp>
        <p:nvSpPr>
          <p:cNvPr id="7" name="Rectangle 6"/>
          <p:cNvSpPr/>
          <p:nvPr/>
        </p:nvSpPr>
        <p:spPr>
          <a:xfrm>
            <a:off x="8001024" y="285728"/>
            <a:ext cx="774571" cy="369332"/>
          </a:xfrm>
          <a:prstGeom prst="rect">
            <a:avLst/>
          </a:prstGeom>
        </p:spPr>
        <p:txBody>
          <a:bodyPr wrap="none">
            <a:spAutoFit/>
          </a:bodyPr>
          <a:lstStyle/>
          <a:p>
            <a:r>
              <a:rPr lang="en-US" dirty="0" smtClean="0">
                <a:solidFill>
                  <a:srgbClr val="0000FF"/>
                </a:solidFill>
                <a:latin typeface="Times New Roman" pitchFamily="18" charset="0"/>
                <a:cs typeface="Times New Roman" pitchFamily="18" charset="0"/>
              </a:rPr>
              <a:t>AIML</a:t>
            </a:r>
            <a:endParaRPr lang="en-US"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063161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Proof of Convergence of Perceptron Learning Algorithm</a:t>
            </a:r>
            <a:endParaRPr lang="en-US" dirty="0"/>
          </a:p>
        </p:txBody>
      </p:sp>
      <p:pic>
        <p:nvPicPr>
          <p:cNvPr id="5" name="Picture 4"/>
          <p:cNvPicPr>
            <a:picLocks noChangeAspect="1"/>
          </p:cNvPicPr>
          <p:nvPr/>
        </p:nvPicPr>
        <p:blipFill>
          <a:blip r:embed="rId2"/>
          <a:stretch>
            <a:fillRect/>
          </a:stretch>
        </p:blipFill>
        <p:spPr>
          <a:xfrm>
            <a:off x="178246" y="3284984"/>
            <a:ext cx="8858250" cy="2771775"/>
          </a:xfrm>
          <a:prstGeom prst="rect">
            <a:avLst/>
          </a:prstGeom>
        </p:spPr>
      </p:pic>
      <p:sp>
        <p:nvSpPr>
          <p:cNvPr id="6" name="Rectangle 5"/>
          <p:cNvSpPr/>
          <p:nvPr/>
        </p:nvSpPr>
        <p:spPr>
          <a:xfrm>
            <a:off x="251520" y="1725230"/>
            <a:ext cx="8640960" cy="1446550"/>
          </a:xfrm>
          <a:prstGeom prst="rect">
            <a:avLst/>
          </a:prstGeom>
        </p:spPr>
        <p:txBody>
          <a:bodyPr wrap="square">
            <a:spAutoFit/>
          </a:bodyPr>
          <a:lstStyle/>
          <a:p>
            <a:pPr algn="just"/>
            <a:r>
              <a:rPr lang="en-US" sz="2200" b="1" dirty="0">
                <a:solidFill>
                  <a:srgbClr val="273239"/>
                </a:solidFill>
                <a:latin typeface="Times New Roman" panose="02020603050405020304" pitchFamily="18" charset="0"/>
                <a:cs typeface="Times New Roman" panose="02020603050405020304" pitchFamily="18" charset="0"/>
              </a:rPr>
              <a:t>Statement: </a:t>
            </a:r>
            <a:r>
              <a:rPr lang="en-US" sz="2200" dirty="0">
                <a:solidFill>
                  <a:srgbClr val="273239"/>
                </a:solidFill>
                <a:latin typeface="Times New Roman" panose="02020603050405020304" pitchFamily="18" charset="0"/>
                <a:cs typeface="Times New Roman" panose="02020603050405020304" pitchFamily="18" charset="0"/>
              </a:rPr>
              <a:t>The Perceptron Convergence Theorem states that if there exists a linear separation (a hyperplane) that can perfectly classify a given set of training examples, then the perceptron algorithm will converge to a solution that correctly classifies all the training examples.</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0526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1143000"/>
          </a:xfrm>
        </p:spPr>
        <p:txBody>
          <a:bodyPr/>
          <a:lstStyle/>
          <a:p>
            <a:r>
              <a:rPr lang="en-US" dirty="0" smtClean="0"/>
              <a:t>Limitations of Perceptron Model</a:t>
            </a:r>
            <a:endParaRPr lang="en-US" dirty="0"/>
          </a:p>
        </p:txBody>
      </p:sp>
      <p:sp>
        <p:nvSpPr>
          <p:cNvPr id="3" name="Content Placeholder 2"/>
          <p:cNvSpPr>
            <a:spLocks noGrp="1"/>
          </p:cNvSpPr>
          <p:nvPr>
            <p:ph idx="1"/>
          </p:nvPr>
        </p:nvSpPr>
        <p:spPr/>
        <p:txBody>
          <a:bodyPr>
            <a:normAutofit/>
          </a:bodyPr>
          <a:lstStyle/>
          <a:p>
            <a:r>
              <a:rPr lang="en-US" sz="2200" b="1" dirty="0">
                <a:latin typeface="Times New Roman" panose="02020603050405020304" pitchFamily="18" charset="0"/>
                <a:cs typeface="Times New Roman" panose="02020603050405020304" pitchFamily="18" charset="0"/>
              </a:rPr>
              <a:t>Linearly separable data:</a:t>
            </a:r>
            <a:r>
              <a:rPr lang="en-US" sz="2200" dirty="0">
                <a:latin typeface="Times New Roman" panose="02020603050405020304" pitchFamily="18" charset="0"/>
                <a:cs typeface="Times New Roman" panose="02020603050405020304" pitchFamily="18" charset="0"/>
              </a:rPr>
              <a:t> The perceptron algorithm works well only for linearly separable data. If the data is not linearly separable, the algorithm may not converge to a solution or may converge to a suboptimal solution.</a:t>
            </a:r>
          </a:p>
          <a:p>
            <a:r>
              <a:rPr lang="en-US" sz="2200" b="1" dirty="0">
                <a:latin typeface="Times New Roman" panose="02020603050405020304" pitchFamily="18" charset="0"/>
                <a:cs typeface="Times New Roman" panose="02020603050405020304" pitchFamily="18" charset="0"/>
              </a:rPr>
              <a:t>Only binary classification:</a:t>
            </a:r>
            <a:r>
              <a:rPr lang="en-US" sz="2200" dirty="0">
                <a:latin typeface="Times New Roman" panose="02020603050405020304" pitchFamily="18" charset="0"/>
                <a:cs typeface="Times New Roman" panose="02020603050405020304" pitchFamily="18" charset="0"/>
              </a:rPr>
              <a:t> The perceptron algorithm is designed for binary classification problems, which means it can only classify data into two categories.</a:t>
            </a:r>
          </a:p>
          <a:p>
            <a:r>
              <a:rPr lang="en-US" sz="2200" b="1" dirty="0">
                <a:latin typeface="Times New Roman" panose="02020603050405020304" pitchFamily="18" charset="0"/>
                <a:cs typeface="Times New Roman" panose="02020603050405020304" pitchFamily="18" charset="0"/>
              </a:rPr>
              <a:t>Sensitivity to initial weights:</a:t>
            </a:r>
            <a:r>
              <a:rPr lang="en-US" sz="2200" dirty="0">
                <a:latin typeface="Times New Roman" panose="02020603050405020304" pitchFamily="18" charset="0"/>
                <a:cs typeface="Times New Roman" panose="02020603050405020304" pitchFamily="18" charset="0"/>
              </a:rPr>
              <a:t> The convergence of the perceptron algorithm depends on the initial weights assigned to the inputs. If the initial weights are not chosen carefully, the algorithm may not converge or may converge to a suboptimal solution.</a:t>
            </a:r>
          </a:p>
          <a:p>
            <a:pPr marL="0" indent="0">
              <a:buNone/>
            </a:pPr>
            <a:endParaRPr 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FADB3F6-3651-B4BF-8E50-A644E0AE3A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000264" cy="1214446"/>
          </a:xfrm>
          <a:prstGeom prst="rect">
            <a:avLst/>
          </a:prstGeom>
        </p:spPr>
      </p:pic>
      <p:sp>
        <p:nvSpPr>
          <p:cNvPr id="5" name="Rectangle 4"/>
          <p:cNvSpPr/>
          <p:nvPr/>
        </p:nvSpPr>
        <p:spPr>
          <a:xfrm>
            <a:off x="8001024" y="285728"/>
            <a:ext cx="774571" cy="369332"/>
          </a:xfrm>
          <a:prstGeom prst="rect">
            <a:avLst/>
          </a:prstGeom>
        </p:spPr>
        <p:txBody>
          <a:bodyPr wrap="none">
            <a:spAutoFit/>
          </a:bodyPr>
          <a:lstStyle/>
          <a:p>
            <a:r>
              <a:rPr lang="en-US" dirty="0" smtClean="0">
                <a:solidFill>
                  <a:srgbClr val="0000FF"/>
                </a:solidFill>
                <a:latin typeface="Times New Roman" pitchFamily="18" charset="0"/>
                <a:cs typeface="Times New Roman" pitchFamily="18" charset="0"/>
              </a:rPr>
              <a:t>AIML</a:t>
            </a:r>
            <a:endParaRPr lang="en-US"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2171846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1367</TotalTime>
  <Words>388</Words>
  <Application>Microsoft Office PowerPoint</Application>
  <PresentationFormat>On-screen Show (4:3)</PresentationFormat>
  <Paragraphs>87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Office Theme</vt:lpstr>
      <vt:lpstr>Deep Learning</vt:lpstr>
      <vt:lpstr> </vt:lpstr>
      <vt:lpstr> </vt:lpstr>
      <vt:lpstr> </vt:lpstr>
      <vt:lpstr> </vt:lpstr>
      <vt:lpstr> </vt:lpstr>
      <vt:lpstr> </vt:lpstr>
      <vt:lpstr>Difference between M-P Neuron and Linear Perceptron</vt:lpstr>
      <vt:lpstr>PowerPoint Presentation</vt:lpstr>
      <vt:lpstr>PowerPoint Presentation</vt:lpstr>
      <vt:lpstr>Proof of Convergence of Perceptron Learning Algorithm</vt:lpstr>
      <vt:lpstr>Limitations of Perceptron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UNIT-V</dc:title>
  <dc:creator>Aditya</dc:creator>
  <cp:lastModifiedBy>Raviteja Vinjamuri</cp:lastModifiedBy>
  <cp:revision>50</cp:revision>
  <dcterms:created xsi:type="dcterms:W3CDTF">2024-10-26T09:26:15Z</dcterms:created>
  <dcterms:modified xsi:type="dcterms:W3CDTF">2025-07-16T09:45:36Z</dcterms:modified>
</cp:coreProperties>
</file>